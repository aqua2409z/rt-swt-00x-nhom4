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Open Sauce Bold" charset="1" panose="00000800000000000000"/>
      <p:regular r:id="rId22"/>
    </p:embeddedFont>
    <p:embeddedFont>
      <p:font typeface="Open Sauce Light" charset="1" panose="00000400000000000000"/>
      <p:regular r:id="rId23"/>
    </p:embeddedFont>
    <p:embeddedFont>
      <p:font typeface="Open Sauce" charset="1" panose="00000500000000000000"/>
      <p:regular r:id="rId24"/>
    </p:embeddedFont>
    <p:embeddedFont>
      <p:font typeface="Open Sauce Light Italics" charset="1" panose="00000400000000000000"/>
      <p:regular r:id="rId25"/>
    </p:embeddedFont>
    <p:embeddedFont>
      <p:font typeface="Open Sauce Bold Italics" charset="1" panose="00000800000000000000"/>
      <p:regular r:id="rId26"/>
    </p:embeddedFont>
    <p:embeddedFont>
      <p:font typeface="Open Sauce Italics" charset="1" panose="00000500000000000000"/>
      <p:regular r:id="rId27"/>
    </p:embeddedFont>
    <p:embeddedFont>
      <p:font typeface="Public Sans Extra-Light" charset="1" panose="00000000000000000000"/>
      <p:regular r:id="rId28"/>
    </p:embeddedFont>
    <p:embeddedFont>
      <p:font typeface="Public Sans Bold" charset="1" panose="00000000000000000000"/>
      <p:regular r:id="rId29"/>
    </p:embeddedFont>
    <p:embeddedFont>
      <p:font typeface="Public Sans" charset="1" panose="0000000000000000000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62132" y="1066499"/>
            <a:ext cx="8140412" cy="8229600"/>
          </a:xfrm>
          <a:custGeom>
            <a:avLst/>
            <a:gdLst/>
            <a:ahLst/>
            <a:cxnLst/>
            <a:rect r="r" b="b" t="t" l="l"/>
            <a:pathLst>
              <a:path h="8229600" w="8140412">
                <a:moveTo>
                  <a:pt x="0" y="0"/>
                </a:moveTo>
                <a:lnTo>
                  <a:pt x="8140412" y="0"/>
                </a:lnTo>
                <a:lnTo>
                  <a:pt x="81404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87328">
            <a:off x="6323497" y="2530376"/>
            <a:ext cx="4517070" cy="4741200"/>
          </a:xfrm>
          <a:custGeom>
            <a:avLst/>
            <a:gdLst/>
            <a:ahLst/>
            <a:cxnLst/>
            <a:rect r="r" b="b" t="t" l="l"/>
            <a:pathLst>
              <a:path h="4741200" w="4517070">
                <a:moveTo>
                  <a:pt x="0" y="0"/>
                </a:moveTo>
                <a:lnTo>
                  <a:pt x="4517070" y="0"/>
                </a:lnTo>
                <a:lnTo>
                  <a:pt x="4517070" y="4741200"/>
                </a:lnTo>
                <a:lnTo>
                  <a:pt x="0" y="4741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217794" y="-3123899"/>
            <a:ext cx="8140412" cy="8229600"/>
          </a:xfrm>
          <a:custGeom>
            <a:avLst/>
            <a:gdLst/>
            <a:ahLst/>
            <a:cxnLst/>
            <a:rect r="r" b="b" t="t" l="l"/>
            <a:pathLst>
              <a:path h="8229600" w="8140412">
                <a:moveTo>
                  <a:pt x="0" y="0"/>
                </a:moveTo>
                <a:lnTo>
                  <a:pt x="8140412" y="0"/>
                </a:lnTo>
                <a:lnTo>
                  <a:pt x="81404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6102904" y="3607626"/>
            <a:ext cx="8140412" cy="8229600"/>
          </a:xfrm>
          <a:custGeom>
            <a:avLst/>
            <a:gdLst/>
            <a:ahLst/>
            <a:cxnLst/>
            <a:rect r="r" b="b" t="t" l="l"/>
            <a:pathLst>
              <a:path h="8229600" w="8140412">
                <a:moveTo>
                  <a:pt x="0" y="0"/>
                </a:moveTo>
                <a:lnTo>
                  <a:pt x="8140412" y="0"/>
                </a:lnTo>
                <a:lnTo>
                  <a:pt x="81404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056785" y="-52151"/>
            <a:ext cx="8140412" cy="8229600"/>
          </a:xfrm>
          <a:custGeom>
            <a:avLst/>
            <a:gdLst/>
            <a:ahLst/>
            <a:cxnLst/>
            <a:rect r="r" b="b" t="t" l="l"/>
            <a:pathLst>
              <a:path h="8229600" w="8140412">
                <a:moveTo>
                  <a:pt x="0" y="0"/>
                </a:moveTo>
                <a:lnTo>
                  <a:pt x="8140412" y="0"/>
                </a:lnTo>
                <a:lnTo>
                  <a:pt x="81404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041506" y="7503078"/>
            <a:ext cx="8140412" cy="8229600"/>
          </a:xfrm>
          <a:custGeom>
            <a:avLst/>
            <a:gdLst/>
            <a:ahLst/>
            <a:cxnLst/>
            <a:rect r="r" b="b" t="t" l="l"/>
            <a:pathLst>
              <a:path h="8229600" w="8140412">
                <a:moveTo>
                  <a:pt x="0" y="0"/>
                </a:moveTo>
                <a:lnTo>
                  <a:pt x="8140412" y="0"/>
                </a:lnTo>
                <a:lnTo>
                  <a:pt x="81404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991694"/>
            <a:ext cx="15191401" cy="2481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77"/>
              </a:lnSpc>
            </a:pPr>
            <a:r>
              <a:rPr lang="en-US" b="true" sz="20199" spc="-111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GPT-4O-MINI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23510" y="6278706"/>
            <a:ext cx="14896591" cy="2480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961"/>
              </a:lnSpc>
            </a:pPr>
            <a:r>
              <a:rPr lang="en-US" b="true" sz="20181" spc="-111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EVOSUITE</a:t>
            </a:r>
          </a:p>
        </p:txBody>
      </p:sp>
      <p:sp>
        <p:nvSpPr>
          <p:cNvPr name="AutoShape 10" id="10"/>
          <p:cNvSpPr/>
          <p:nvPr/>
        </p:nvSpPr>
        <p:spPr>
          <a:xfrm flipH="true">
            <a:off x="1323510" y="79955"/>
            <a:ext cx="2733802" cy="10202689"/>
          </a:xfrm>
          <a:prstGeom prst="line">
            <a:avLst/>
          </a:prstGeom>
          <a:ln cap="flat" w="9525">
            <a:gradFill>
              <a:gsLst>
                <a:gs pos="0">
                  <a:srgbClr val="00E5ED">
                    <a:alpha val="100000"/>
                  </a:srgbClr>
                </a:gs>
                <a:gs pos="33333">
                  <a:srgbClr val="00E5ED">
                    <a:alpha val="0"/>
                  </a:srgbClr>
                </a:gs>
                <a:gs pos="66667">
                  <a:srgbClr val="00E5ED">
                    <a:alpha val="0"/>
                  </a:srgbClr>
                </a:gs>
                <a:gs pos="100000">
                  <a:srgbClr val="00E5E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9018890" y="67804"/>
            <a:ext cx="0" cy="10226990"/>
          </a:xfrm>
          <a:prstGeom prst="line">
            <a:avLst/>
          </a:prstGeom>
          <a:ln cap="flat" w="9525">
            <a:gradFill>
              <a:gsLst>
                <a:gs pos="0">
                  <a:srgbClr val="00E5ED">
                    <a:alpha val="100000"/>
                  </a:srgbClr>
                </a:gs>
                <a:gs pos="33333">
                  <a:srgbClr val="00E5ED">
                    <a:alpha val="0"/>
                  </a:srgbClr>
                </a:gs>
                <a:gs pos="66667">
                  <a:srgbClr val="00E5ED">
                    <a:alpha val="0"/>
                  </a:srgbClr>
                </a:gs>
                <a:gs pos="100000">
                  <a:srgbClr val="00E5E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14224177" y="67804"/>
            <a:ext cx="2740314" cy="10226990"/>
          </a:xfrm>
          <a:prstGeom prst="line">
            <a:avLst/>
          </a:prstGeom>
          <a:ln cap="flat" w="9525">
            <a:gradFill>
              <a:gsLst>
                <a:gs pos="0">
                  <a:srgbClr val="00E5ED">
                    <a:alpha val="100000"/>
                  </a:srgbClr>
                </a:gs>
                <a:gs pos="33333">
                  <a:srgbClr val="00E5ED">
                    <a:alpha val="0"/>
                  </a:srgbClr>
                </a:gs>
                <a:gs pos="66667">
                  <a:srgbClr val="00E5ED">
                    <a:alpha val="0"/>
                  </a:srgbClr>
                </a:gs>
                <a:gs pos="100000">
                  <a:srgbClr val="00E5E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1882698" y="6623883"/>
            <a:ext cx="455866" cy="455866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E5ED">
                    <a:alpha val="100000"/>
                  </a:srgbClr>
                </a:gs>
                <a:gs pos="100000">
                  <a:srgbClr val="00E5ED">
                    <a:alpha val="0"/>
                  </a:srgbClr>
                </a:gs>
              </a:gsLst>
              <a:lin ang="270000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891238" y="990901"/>
            <a:ext cx="326556" cy="326556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E5ED">
                    <a:alpha val="100000"/>
                  </a:srgbClr>
                </a:gs>
                <a:gs pos="100000">
                  <a:srgbClr val="00E5ED">
                    <a:alpha val="0"/>
                  </a:srgbClr>
                </a:gs>
              </a:gsLst>
              <a:lin ang="270000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-8451149">
            <a:off x="17583150" y="9023573"/>
            <a:ext cx="1729903" cy="1729903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E5ED">
                    <a:alpha val="100000"/>
                  </a:srgbClr>
                </a:gs>
                <a:gs pos="100000">
                  <a:srgbClr val="00E5ED">
                    <a:alpha val="0"/>
                  </a:srgbClr>
                </a:gs>
              </a:gsLst>
              <a:lin ang="270000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763301" y="8714169"/>
            <a:ext cx="4070206" cy="16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-18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Class: SE1944  - SUMMER 2026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3102152" y="4608719"/>
            <a:ext cx="1967613" cy="895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599" spc="-220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Presented by :  Team 4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65387" y="804243"/>
            <a:ext cx="3027759" cy="5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spc="-26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FPT UNIVERSITY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44000" y="8557895"/>
            <a:ext cx="7661533" cy="1353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spc="-194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GPT-4o-mini versus EvoSuite: A Mutation Score-Based Evaluation of Zero-Shot Unit Test Generation on CLASSES2TEST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>
            <a:off x="1323510" y="79955"/>
            <a:ext cx="2733802" cy="10202689"/>
          </a:xfrm>
          <a:prstGeom prst="line">
            <a:avLst/>
          </a:prstGeom>
          <a:ln cap="flat" w="9525">
            <a:gradFill>
              <a:gsLst>
                <a:gs pos="0">
                  <a:srgbClr val="00E5ED">
                    <a:alpha val="100000"/>
                  </a:srgbClr>
                </a:gs>
                <a:gs pos="33333">
                  <a:srgbClr val="00E5ED">
                    <a:alpha val="0"/>
                  </a:srgbClr>
                </a:gs>
                <a:gs pos="66667">
                  <a:srgbClr val="00E5ED">
                    <a:alpha val="0"/>
                  </a:srgbClr>
                </a:gs>
                <a:gs pos="100000">
                  <a:srgbClr val="00E5E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9140744" y="67804"/>
            <a:ext cx="0" cy="10226990"/>
          </a:xfrm>
          <a:prstGeom prst="line">
            <a:avLst/>
          </a:prstGeom>
          <a:ln cap="flat" w="9525">
            <a:gradFill>
              <a:gsLst>
                <a:gs pos="0">
                  <a:srgbClr val="00E5ED">
                    <a:alpha val="100000"/>
                  </a:srgbClr>
                </a:gs>
                <a:gs pos="33333">
                  <a:srgbClr val="00E5ED">
                    <a:alpha val="0"/>
                  </a:srgbClr>
                </a:gs>
                <a:gs pos="66667">
                  <a:srgbClr val="00E5ED">
                    <a:alpha val="0"/>
                  </a:srgbClr>
                </a:gs>
                <a:gs pos="100000">
                  <a:srgbClr val="00E5E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4224177" y="67804"/>
            <a:ext cx="2740314" cy="10226990"/>
          </a:xfrm>
          <a:prstGeom prst="line">
            <a:avLst/>
          </a:prstGeom>
          <a:ln cap="flat" w="9525">
            <a:gradFill>
              <a:gsLst>
                <a:gs pos="0">
                  <a:srgbClr val="00E5ED">
                    <a:alpha val="100000"/>
                  </a:srgbClr>
                </a:gs>
                <a:gs pos="33333">
                  <a:srgbClr val="00E5ED">
                    <a:alpha val="0"/>
                  </a:srgbClr>
                </a:gs>
                <a:gs pos="66667">
                  <a:srgbClr val="00E5ED">
                    <a:alpha val="0"/>
                  </a:srgbClr>
                </a:gs>
                <a:gs pos="100000">
                  <a:srgbClr val="00E5E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4217794" y="-3123899"/>
            <a:ext cx="8140412" cy="8229600"/>
          </a:xfrm>
          <a:custGeom>
            <a:avLst/>
            <a:gdLst/>
            <a:ahLst/>
            <a:cxnLst/>
            <a:rect r="r" b="b" t="t" l="l"/>
            <a:pathLst>
              <a:path h="8229600" w="8140412">
                <a:moveTo>
                  <a:pt x="0" y="0"/>
                </a:moveTo>
                <a:lnTo>
                  <a:pt x="8140412" y="0"/>
                </a:lnTo>
                <a:lnTo>
                  <a:pt x="81404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31714" y="5372317"/>
            <a:ext cx="10014599" cy="2944367"/>
            <a:chOff x="0" y="0"/>
            <a:chExt cx="2637590" cy="77547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37590" cy="775471"/>
            </a:xfrm>
            <a:custGeom>
              <a:avLst/>
              <a:gdLst/>
              <a:ahLst/>
              <a:cxnLst/>
              <a:rect r="r" b="b" t="t" l="l"/>
              <a:pathLst>
                <a:path h="775471" w="2637590">
                  <a:moveTo>
                    <a:pt x="22419" y="0"/>
                  </a:moveTo>
                  <a:lnTo>
                    <a:pt x="2615171" y="0"/>
                  </a:lnTo>
                  <a:cubicBezTo>
                    <a:pt x="2621117" y="0"/>
                    <a:pt x="2626819" y="2362"/>
                    <a:pt x="2631024" y="6566"/>
                  </a:cubicBezTo>
                  <a:cubicBezTo>
                    <a:pt x="2635228" y="10771"/>
                    <a:pt x="2637590" y="16473"/>
                    <a:pt x="2637590" y="22419"/>
                  </a:cubicBezTo>
                  <a:lnTo>
                    <a:pt x="2637590" y="753052"/>
                  </a:lnTo>
                  <a:cubicBezTo>
                    <a:pt x="2637590" y="758998"/>
                    <a:pt x="2635228" y="764700"/>
                    <a:pt x="2631024" y="768905"/>
                  </a:cubicBezTo>
                  <a:cubicBezTo>
                    <a:pt x="2626819" y="773109"/>
                    <a:pt x="2621117" y="775471"/>
                    <a:pt x="2615171" y="775471"/>
                  </a:cubicBezTo>
                  <a:lnTo>
                    <a:pt x="22419" y="775471"/>
                  </a:lnTo>
                  <a:cubicBezTo>
                    <a:pt x="10037" y="775471"/>
                    <a:pt x="0" y="765434"/>
                    <a:pt x="0" y="753052"/>
                  </a:cubicBezTo>
                  <a:lnTo>
                    <a:pt x="0" y="22419"/>
                  </a:lnTo>
                  <a:cubicBezTo>
                    <a:pt x="0" y="10037"/>
                    <a:pt x="10037" y="0"/>
                    <a:pt x="2241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1111">
                    <a:alpha val="100000"/>
                  </a:srgbClr>
                </a:gs>
                <a:gs pos="100000">
                  <a:srgbClr val="111111">
                    <a:alpha val="30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637590" cy="8040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687338" y="8747536"/>
            <a:ext cx="5971496" cy="2594169"/>
            <a:chOff x="0" y="0"/>
            <a:chExt cx="1572740" cy="68323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72740" cy="683238"/>
            </a:xfrm>
            <a:custGeom>
              <a:avLst/>
              <a:gdLst/>
              <a:ahLst/>
              <a:cxnLst/>
              <a:rect r="r" b="b" t="t" l="l"/>
              <a:pathLst>
                <a:path h="683238" w="1572740">
                  <a:moveTo>
                    <a:pt x="37598" y="0"/>
                  </a:moveTo>
                  <a:lnTo>
                    <a:pt x="1535142" y="0"/>
                  </a:lnTo>
                  <a:cubicBezTo>
                    <a:pt x="1555907" y="0"/>
                    <a:pt x="1572740" y="16833"/>
                    <a:pt x="1572740" y="37598"/>
                  </a:cubicBezTo>
                  <a:lnTo>
                    <a:pt x="1572740" y="645640"/>
                  </a:lnTo>
                  <a:cubicBezTo>
                    <a:pt x="1572740" y="655612"/>
                    <a:pt x="1568779" y="665175"/>
                    <a:pt x="1561728" y="672226"/>
                  </a:cubicBezTo>
                  <a:cubicBezTo>
                    <a:pt x="1554677" y="679277"/>
                    <a:pt x="1545113" y="683238"/>
                    <a:pt x="1535142" y="683238"/>
                  </a:cubicBezTo>
                  <a:lnTo>
                    <a:pt x="37598" y="683238"/>
                  </a:lnTo>
                  <a:cubicBezTo>
                    <a:pt x="16833" y="683238"/>
                    <a:pt x="0" y="666405"/>
                    <a:pt x="0" y="645640"/>
                  </a:cubicBezTo>
                  <a:lnTo>
                    <a:pt x="0" y="37598"/>
                  </a:lnTo>
                  <a:cubicBezTo>
                    <a:pt x="0" y="16833"/>
                    <a:pt x="16833" y="0"/>
                    <a:pt x="3759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1111">
                    <a:alpha val="100000"/>
                  </a:srgbClr>
                </a:gs>
                <a:gs pos="100000">
                  <a:srgbClr val="111111">
                    <a:alpha val="30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572740" cy="7118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321475" y="-750352"/>
            <a:ext cx="2981757" cy="2594169"/>
            <a:chOff x="0" y="0"/>
            <a:chExt cx="785319" cy="68323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85319" cy="683238"/>
            </a:xfrm>
            <a:custGeom>
              <a:avLst/>
              <a:gdLst/>
              <a:ahLst/>
              <a:cxnLst/>
              <a:rect r="r" b="b" t="t" l="l"/>
              <a:pathLst>
                <a:path h="683238" w="785319">
                  <a:moveTo>
                    <a:pt x="75296" y="0"/>
                  </a:moveTo>
                  <a:lnTo>
                    <a:pt x="710022" y="0"/>
                  </a:lnTo>
                  <a:cubicBezTo>
                    <a:pt x="751607" y="0"/>
                    <a:pt x="785319" y="33711"/>
                    <a:pt x="785319" y="75296"/>
                  </a:cubicBezTo>
                  <a:lnTo>
                    <a:pt x="785319" y="607941"/>
                  </a:lnTo>
                  <a:cubicBezTo>
                    <a:pt x="785319" y="627911"/>
                    <a:pt x="777386" y="647063"/>
                    <a:pt x="763265" y="661184"/>
                  </a:cubicBezTo>
                  <a:cubicBezTo>
                    <a:pt x="749144" y="675305"/>
                    <a:pt x="729992" y="683238"/>
                    <a:pt x="710022" y="683238"/>
                  </a:cubicBezTo>
                  <a:lnTo>
                    <a:pt x="75296" y="683238"/>
                  </a:lnTo>
                  <a:cubicBezTo>
                    <a:pt x="55327" y="683238"/>
                    <a:pt x="36175" y="675305"/>
                    <a:pt x="22054" y="661184"/>
                  </a:cubicBezTo>
                  <a:cubicBezTo>
                    <a:pt x="7933" y="647063"/>
                    <a:pt x="0" y="627911"/>
                    <a:pt x="0" y="607941"/>
                  </a:cubicBezTo>
                  <a:lnTo>
                    <a:pt x="0" y="75296"/>
                  </a:lnTo>
                  <a:cubicBezTo>
                    <a:pt x="0" y="55327"/>
                    <a:pt x="7933" y="36175"/>
                    <a:pt x="22054" y="22054"/>
                  </a:cubicBezTo>
                  <a:cubicBezTo>
                    <a:pt x="36175" y="7933"/>
                    <a:pt x="55327" y="0"/>
                    <a:pt x="7529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1111">
                    <a:alpha val="100000"/>
                  </a:srgbClr>
                </a:gs>
                <a:gs pos="100000">
                  <a:srgbClr val="111111">
                    <a:alpha val="30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785319" cy="7118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-6102904" y="3607626"/>
            <a:ext cx="8140412" cy="8229600"/>
          </a:xfrm>
          <a:custGeom>
            <a:avLst/>
            <a:gdLst/>
            <a:ahLst/>
            <a:cxnLst/>
            <a:rect r="r" b="b" t="t" l="l"/>
            <a:pathLst>
              <a:path h="8229600" w="8140412">
                <a:moveTo>
                  <a:pt x="0" y="0"/>
                </a:moveTo>
                <a:lnTo>
                  <a:pt x="8140412" y="0"/>
                </a:lnTo>
                <a:lnTo>
                  <a:pt x="81404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056785" y="-52151"/>
            <a:ext cx="8140412" cy="8229600"/>
          </a:xfrm>
          <a:custGeom>
            <a:avLst/>
            <a:gdLst/>
            <a:ahLst/>
            <a:cxnLst/>
            <a:rect r="r" b="b" t="t" l="l"/>
            <a:pathLst>
              <a:path h="8229600" w="8140412">
                <a:moveTo>
                  <a:pt x="0" y="0"/>
                </a:moveTo>
                <a:lnTo>
                  <a:pt x="8140412" y="0"/>
                </a:lnTo>
                <a:lnTo>
                  <a:pt x="81404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-3041506" y="7315309"/>
            <a:ext cx="8140412" cy="8229600"/>
          </a:xfrm>
          <a:custGeom>
            <a:avLst/>
            <a:gdLst/>
            <a:ahLst/>
            <a:cxnLst/>
            <a:rect r="r" b="b" t="t" l="l"/>
            <a:pathLst>
              <a:path h="8229600" w="8140412">
                <a:moveTo>
                  <a:pt x="0" y="0"/>
                </a:moveTo>
                <a:lnTo>
                  <a:pt x="8140412" y="0"/>
                </a:lnTo>
                <a:lnTo>
                  <a:pt x="81404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1284261" y="5372317"/>
            <a:ext cx="5936687" cy="3885983"/>
            <a:chOff x="0" y="0"/>
            <a:chExt cx="919748" cy="6020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9748" cy="602040"/>
            </a:xfrm>
            <a:custGeom>
              <a:avLst/>
              <a:gdLst/>
              <a:ahLst/>
              <a:cxnLst/>
              <a:rect r="r" b="b" t="t" l="l"/>
              <a:pathLst>
                <a:path h="602040" w="919748">
                  <a:moveTo>
                    <a:pt x="29994" y="0"/>
                  </a:moveTo>
                  <a:lnTo>
                    <a:pt x="889754" y="0"/>
                  </a:lnTo>
                  <a:cubicBezTo>
                    <a:pt x="897709" y="0"/>
                    <a:pt x="905338" y="3160"/>
                    <a:pt x="910963" y="8785"/>
                  </a:cubicBezTo>
                  <a:cubicBezTo>
                    <a:pt x="916588" y="14410"/>
                    <a:pt x="919748" y="22039"/>
                    <a:pt x="919748" y="29994"/>
                  </a:cubicBezTo>
                  <a:lnTo>
                    <a:pt x="919748" y="572047"/>
                  </a:lnTo>
                  <a:cubicBezTo>
                    <a:pt x="919748" y="580001"/>
                    <a:pt x="916588" y="587630"/>
                    <a:pt x="910963" y="593255"/>
                  </a:cubicBezTo>
                  <a:cubicBezTo>
                    <a:pt x="905338" y="598880"/>
                    <a:pt x="897709" y="602040"/>
                    <a:pt x="889754" y="602040"/>
                  </a:cubicBezTo>
                  <a:lnTo>
                    <a:pt x="29994" y="602040"/>
                  </a:lnTo>
                  <a:cubicBezTo>
                    <a:pt x="13429" y="602040"/>
                    <a:pt x="0" y="588612"/>
                    <a:pt x="0" y="572047"/>
                  </a:cubicBezTo>
                  <a:lnTo>
                    <a:pt x="0" y="29994"/>
                  </a:lnTo>
                  <a:cubicBezTo>
                    <a:pt x="0" y="22039"/>
                    <a:pt x="3160" y="14410"/>
                    <a:pt x="8785" y="8785"/>
                  </a:cubicBezTo>
                  <a:cubicBezTo>
                    <a:pt x="14410" y="3160"/>
                    <a:pt x="22039" y="0"/>
                    <a:pt x="29994" y="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-10431"/>
              </a:stretch>
            </a:blip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003A04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785683" y="3222981"/>
            <a:ext cx="17946106" cy="1982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b="true" sz="8500" spc="-46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MEMBERS &amp; CONTRIBUTIONS</a:t>
            </a:r>
          </a:p>
          <a:p>
            <a:pPr algn="l">
              <a:lnSpc>
                <a:spcPts val="7565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933149"/>
            <a:ext cx="3658638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spc="-524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TEAM 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85683" y="5596666"/>
            <a:ext cx="9216070" cy="2836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8" indent="-291464" lvl="1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</a:t>
            </a:r>
            <a:r>
              <a:rPr lang="en-US" sz="269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L (Project Lead): Trần Bích Trâm - SE190313</a:t>
            </a:r>
          </a:p>
          <a:p>
            <a:pPr algn="l" marL="582928" indent="-291464" lvl="1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DG (Data &amp; Growth Truth): Trần Minh Quý - SE196687</a:t>
            </a:r>
          </a:p>
          <a:p>
            <a:pPr algn="l" marL="582928" indent="-291464" lvl="1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LR (LLM Runner): Lê Trần Anh Khoa - SE192585</a:t>
            </a:r>
          </a:p>
          <a:p>
            <a:pPr algn="l" marL="582928" indent="-291464" lvl="1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MS (Metric/Stat): Trương Đan Huy - SE196508</a:t>
            </a:r>
          </a:p>
          <a:p>
            <a:pPr algn="l" marL="582928" indent="-291464" lvl="1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RW (Report Writer): Vương Quốc Khánh - SE196464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17794" y="-3123899"/>
            <a:ext cx="8140412" cy="8229600"/>
          </a:xfrm>
          <a:custGeom>
            <a:avLst/>
            <a:gdLst/>
            <a:ahLst/>
            <a:cxnLst/>
            <a:rect r="r" b="b" t="t" l="l"/>
            <a:pathLst>
              <a:path h="8229600" w="8140412">
                <a:moveTo>
                  <a:pt x="0" y="0"/>
                </a:moveTo>
                <a:lnTo>
                  <a:pt x="8140412" y="0"/>
                </a:lnTo>
                <a:lnTo>
                  <a:pt x="81404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120940" y="2677270"/>
            <a:ext cx="8140412" cy="8229600"/>
          </a:xfrm>
          <a:custGeom>
            <a:avLst/>
            <a:gdLst/>
            <a:ahLst/>
            <a:cxnLst/>
            <a:rect r="r" b="b" t="t" l="l"/>
            <a:pathLst>
              <a:path h="8229600" w="8140412">
                <a:moveTo>
                  <a:pt x="0" y="0"/>
                </a:moveTo>
                <a:lnTo>
                  <a:pt x="8140412" y="0"/>
                </a:lnTo>
                <a:lnTo>
                  <a:pt x="81404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75081" y="-22987"/>
            <a:ext cx="8140412" cy="8229600"/>
          </a:xfrm>
          <a:custGeom>
            <a:avLst/>
            <a:gdLst/>
            <a:ahLst/>
            <a:cxnLst/>
            <a:rect r="r" b="b" t="t" l="l"/>
            <a:pathLst>
              <a:path h="8229600" w="8140412">
                <a:moveTo>
                  <a:pt x="0" y="0"/>
                </a:moveTo>
                <a:lnTo>
                  <a:pt x="8140412" y="0"/>
                </a:lnTo>
                <a:lnTo>
                  <a:pt x="81404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059542" y="6384952"/>
            <a:ext cx="8140412" cy="8229600"/>
          </a:xfrm>
          <a:custGeom>
            <a:avLst/>
            <a:gdLst/>
            <a:ahLst/>
            <a:cxnLst/>
            <a:rect r="r" b="b" t="t" l="l"/>
            <a:pathLst>
              <a:path h="8229600" w="8140412">
                <a:moveTo>
                  <a:pt x="0" y="0"/>
                </a:moveTo>
                <a:lnTo>
                  <a:pt x="8140412" y="0"/>
                </a:lnTo>
                <a:lnTo>
                  <a:pt x="81404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 flipH="true">
            <a:off x="1305474" y="-850402"/>
            <a:ext cx="2733802" cy="10202689"/>
          </a:xfrm>
          <a:prstGeom prst="line">
            <a:avLst/>
          </a:prstGeom>
          <a:ln cap="flat" w="9525">
            <a:gradFill>
              <a:gsLst>
                <a:gs pos="0">
                  <a:srgbClr val="00E5ED">
                    <a:alpha val="100000"/>
                  </a:srgbClr>
                </a:gs>
                <a:gs pos="33333">
                  <a:srgbClr val="00E5ED">
                    <a:alpha val="0"/>
                  </a:srgbClr>
                </a:gs>
                <a:gs pos="66667">
                  <a:srgbClr val="00E5ED">
                    <a:alpha val="0"/>
                  </a:srgbClr>
                </a:gs>
                <a:gs pos="100000">
                  <a:srgbClr val="00E5E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9140744" y="67804"/>
            <a:ext cx="0" cy="10226990"/>
          </a:xfrm>
          <a:prstGeom prst="line">
            <a:avLst/>
          </a:prstGeom>
          <a:ln cap="flat" w="9525">
            <a:gradFill>
              <a:gsLst>
                <a:gs pos="0">
                  <a:srgbClr val="00E5ED">
                    <a:alpha val="100000"/>
                  </a:srgbClr>
                </a:gs>
                <a:gs pos="33333">
                  <a:srgbClr val="00E5ED">
                    <a:alpha val="0"/>
                  </a:srgbClr>
                </a:gs>
                <a:gs pos="66667">
                  <a:srgbClr val="00E5ED">
                    <a:alpha val="0"/>
                  </a:srgbClr>
                </a:gs>
                <a:gs pos="100000">
                  <a:srgbClr val="00E5E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4224177" y="67804"/>
            <a:ext cx="2740314" cy="10226990"/>
          </a:xfrm>
          <a:prstGeom prst="line">
            <a:avLst/>
          </a:prstGeom>
          <a:ln cap="flat" w="9525">
            <a:gradFill>
              <a:gsLst>
                <a:gs pos="0">
                  <a:srgbClr val="00E5ED">
                    <a:alpha val="100000"/>
                  </a:srgbClr>
                </a:gs>
                <a:gs pos="33333">
                  <a:srgbClr val="00E5ED">
                    <a:alpha val="0"/>
                  </a:srgbClr>
                </a:gs>
                <a:gs pos="66667">
                  <a:srgbClr val="00E5ED">
                    <a:alpha val="0"/>
                  </a:srgbClr>
                </a:gs>
                <a:gs pos="100000">
                  <a:srgbClr val="00E5E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572915" y="1032348"/>
            <a:ext cx="7934417" cy="8379606"/>
            <a:chOff x="0" y="0"/>
            <a:chExt cx="2089723" cy="220697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89723" cy="2206974"/>
            </a:xfrm>
            <a:custGeom>
              <a:avLst/>
              <a:gdLst/>
              <a:ahLst/>
              <a:cxnLst/>
              <a:rect r="r" b="b" t="t" l="l"/>
              <a:pathLst>
                <a:path h="2206974" w="2089723">
                  <a:moveTo>
                    <a:pt x="28296" y="0"/>
                  </a:moveTo>
                  <a:lnTo>
                    <a:pt x="2061426" y="0"/>
                  </a:lnTo>
                  <a:cubicBezTo>
                    <a:pt x="2068931" y="0"/>
                    <a:pt x="2076128" y="2981"/>
                    <a:pt x="2081435" y="8288"/>
                  </a:cubicBezTo>
                  <a:cubicBezTo>
                    <a:pt x="2086742" y="13594"/>
                    <a:pt x="2089723" y="20792"/>
                    <a:pt x="2089723" y="28296"/>
                  </a:cubicBezTo>
                  <a:lnTo>
                    <a:pt x="2089723" y="2178678"/>
                  </a:lnTo>
                  <a:cubicBezTo>
                    <a:pt x="2089723" y="2186183"/>
                    <a:pt x="2086742" y="2193380"/>
                    <a:pt x="2081435" y="2198687"/>
                  </a:cubicBezTo>
                  <a:cubicBezTo>
                    <a:pt x="2076128" y="2203993"/>
                    <a:pt x="2068931" y="2206974"/>
                    <a:pt x="2061426" y="2206974"/>
                  </a:cubicBezTo>
                  <a:lnTo>
                    <a:pt x="28296" y="2206974"/>
                  </a:lnTo>
                  <a:cubicBezTo>
                    <a:pt x="20792" y="2206974"/>
                    <a:pt x="13594" y="2203993"/>
                    <a:pt x="8288" y="2198687"/>
                  </a:cubicBezTo>
                  <a:cubicBezTo>
                    <a:pt x="2981" y="2193380"/>
                    <a:pt x="0" y="2186183"/>
                    <a:pt x="0" y="2178678"/>
                  </a:cubicBezTo>
                  <a:lnTo>
                    <a:pt x="0" y="28296"/>
                  </a:lnTo>
                  <a:cubicBezTo>
                    <a:pt x="0" y="20792"/>
                    <a:pt x="2981" y="13594"/>
                    <a:pt x="8288" y="8288"/>
                  </a:cubicBezTo>
                  <a:cubicBezTo>
                    <a:pt x="13594" y="2981"/>
                    <a:pt x="20792" y="0"/>
                    <a:pt x="2829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1111">
                    <a:alpha val="100000"/>
                  </a:srgbClr>
                </a:gs>
                <a:gs pos="100000">
                  <a:srgbClr val="111111">
                    <a:alpha val="30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2089723" cy="22355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085600" y="2510426"/>
            <a:ext cx="8770671" cy="273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23"/>
              </a:lnSpc>
            </a:pPr>
            <a:r>
              <a:rPr lang="en-US" b="true" sz="11599" spc="-63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CONTEXT</a:t>
            </a:r>
          </a:p>
          <a:p>
            <a:pPr algn="l">
              <a:lnSpc>
                <a:spcPts val="10323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5025271" y="981075"/>
            <a:ext cx="2234029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</a:pPr>
            <a:r>
              <a:rPr lang="en-US" b="true" sz="2499" spc="-18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TEAM 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1642441"/>
            <a:ext cx="4520737" cy="407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47"/>
              </a:lnSpc>
            </a:pPr>
            <a:r>
              <a:rPr lang="en-US" sz="2611" spc="-16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Problem &amp; Motivation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235838" y="1632916"/>
            <a:ext cx="1610951" cy="411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15"/>
              </a:lnSpc>
            </a:pPr>
            <a:r>
              <a:rPr lang="en-US" b="true" sz="2511" spc="-16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01.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391646" y="2756665"/>
            <a:ext cx="437107" cy="411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15"/>
              </a:lnSpc>
            </a:pPr>
            <a:r>
              <a:rPr lang="en-US" b="true" sz="2511" spc="-16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02.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853171" y="3763204"/>
            <a:ext cx="975582" cy="409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15"/>
              </a:lnSpc>
            </a:pPr>
            <a:r>
              <a:rPr lang="en-US" b="true" sz="2511" spc="-16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03.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88786" y="2549912"/>
            <a:ext cx="3050490" cy="836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47"/>
              </a:lnSpc>
            </a:pPr>
            <a:r>
              <a:rPr lang="en-US" sz="2611" spc="-16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Evidence from Related Work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5885" y="3813276"/>
            <a:ext cx="3118170" cy="425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79"/>
              </a:lnSpc>
            </a:pPr>
            <a:r>
              <a:rPr lang="en-US" sz="2711" spc="-17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Research GAP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8786" y="4614223"/>
            <a:ext cx="3050490" cy="1230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5"/>
              </a:lnSpc>
            </a:pPr>
            <a:r>
              <a:rPr lang="en-US" sz="2511" spc="-16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Research Questions</a:t>
            </a:r>
          </a:p>
          <a:p>
            <a:pPr algn="l">
              <a:lnSpc>
                <a:spcPts val="3315"/>
              </a:lnSpc>
            </a:pPr>
            <a:r>
              <a:rPr lang="en-US" sz="2511" spc="-16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(RQ1 &amp; RQ2 )</a:t>
            </a:r>
          </a:p>
          <a:p>
            <a:pPr algn="l" marL="0" indent="0" lvl="0">
              <a:lnSpc>
                <a:spcPts val="3315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010664" y="5812701"/>
            <a:ext cx="3028612" cy="1247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5"/>
              </a:lnSpc>
            </a:pPr>
            <a:r>
              <a:rPr lang="en-US" sz="2511" spc="-16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Research Questions</a:t>
            </a:r>
          </a:p>
          <a:p>
            <a:pPr algn="l" marL="0" indent="0" lvl="0">
              <a:lnSpc>
                <a:spcPts val="3315"/>
              </a:lnSpc>
            </a:pPr>
            <a:r>
              <a:rPr lang="en-US" sz="2511" spc="-16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(RQ3 &amp; RQ4 )</a:t>
            </a:r>
          </a:p>
          <a:p>
            <a:pPr algn="l" marL="0" indent="0" lvl="0">
              <a:lnSpc>
                <a:spcPts val="3315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010664" y="6895234"/>
            <a:ext cx="3050490" cy="1265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611" spc="-16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Hypotheses and Thresholds</a:t>
            </a:r>
          </a:p>
          <a:p>
            <a:pPr algn="l" marL="0" indent="0" lvl="0">
              <a:lnSpc>
                <a:spcPts val="3447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010664" y="7908406"/>
            <a:ext cx="2789440" cy="836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611" spc="-16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Experiment Pipeline</a:t>
            </a:r>
          </a:p>
          <a:p>
            <a:pPr algn="l" marL="0" indent="0" lvl="0">
              <a:lnSpc>
                <a:spcPts val="3447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4432676" y="4810771"/>
            <a:ext cx="3396078" cy="411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15"/>
              </a:lnSpc>
            </a:pPr>
            <a:r>
              <a:rPr lang="en-US" b="true" sz="2511" spc="-16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04.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539752" y="5975560"/>
            <a:ext cx="1289001" cy="409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15"/>
              </a:lnSpc>
            </a:pPr>
            <a:r>
              <a:rPr lang="en-US" b="true" sz="2511" spc="-16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05.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432676" y="7023127"/>
            <a:ext cx="3396078" cy="411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15"/>
              </a:lnSpc>
            </a:pPr>
            <a:r>
              <a:rPr lang="en-US" b="true" sz="2511" spc="-16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06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771410" y="7895381"/>
            <a:ext cx="1057344" cy="409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15"/>
              </a:lnSpc>
            </a:pPr>
            <a:r>
              <a:rPr lang="en-US" b="true" sz="2511" spc="-16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07.</a:t>
            </a:r>
          </a:p>
        </p:txBody>
      </p:sp>
      <p:sp>
        <p:nvSpPr>
          <p:cNvPr name="AutoShape 28" id="28"/>
          <p:cNvSpPr/>
          <p:nvPr/>
        </p:nvSpPr>
        <p:spPr>
          <a:xfrm>
            <a:off x="5098906" y="1829940"/>
            <a:ext cx="1690539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>
            <a:off x="4039276" y="2977683"/>
            <a:ext cx="2732133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>
            <a:off x="4119228" y="4030057"/>
            <a:ext cx="2549344" cy="3566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4297344" y="5079356"/>
            <a:ext cx="2340346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>
            <a:off x="4128844" y="6212568"/>
            <a:ext cx="2583502" cy="4762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>
            <a:off x="3542966" y="7276256"/>
            <a:ext cx="3310205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>
            <a:off x="4018978" y="8138269"/>
            <a:ext cx="2752432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5" id="35"/>
          <p:cNvGrpSpPr/>
          <p:nvPr/>
        </p:nvGrpSpPr>
        <p:grpSpPr>
          <a:xfrm rot="0">
            <a:off x="9244420" y="4908605"/>
            <a:ext cx="8014880" cy="3945708"/>
            <a:chOff x="0" y="0"/>
            <a:chExt cx="2110915" cy="103919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10915" cy="1039199"/>
            </a:xfrm>
            <a:custGeom>
              <a:avLst/>
              <a:gdLst/>
              <a:ahLst/>
              <a:cxnLst/>
              <a:rect r="r" b="b" t="t" l="l"/>
              <a:pathLst>
                <a:path h="1039199" w="2110915">
                  <a:moveTo>
                    <a:pt x="28012" y="0"/>
                  </a:moveTo>
                  <a:lnTo>
                    <a:pt x="2082902" y="0"/>
                  </a:lnTo>
                  <a:cubicBezTo>
                    <a:pt x="2090332" y="0"/>
                    <a:pt x="2097457" y="2951"/>
                    <a:pt x="2102710" y="8205"/>
                  </a:cubicBezTo>
                  <a:cubicBezTo>
                    <a:pt x="2107963" y="13458"/>
                    <a:pt x="2110915" y="20583"/>
                    <a:pt x="2110915" y="28012"/>
                  </a:cubicBezTo>
                  <a:lnTo>
                    <a:pt x="2110915" y="1011186"/>
                  </a:lnTo>
                  <a:cubicBezTo>
                    <a:pt x="2110915" y="1018616"/>
                    <a:pt x="2107963" y="1025741"/>
                    <a:pt x="2102710" y="1030994"/>
                  </a:cubicBezTo>
                  <a:cubicBezTo>
                    <a:pt x="2097457" y="1036248"/>
                    <a:pt x="2090332" y="1039199"/>
                    <a:pt x="2082902" y="1039199"/>
                  </a:cubicBezTo>
                  <a:lnTo>
                    <a:pt x="28012" y="1039199"/>
                  </a:lnTo>
                  <a:cubicBezTo>
                    <a:pt x="20583" y="1039199"/>
                    <a:pt x="13458" y="1036248"/>
                    <a:pt x="8205" y="1030994"/>
                  </a:cubicBezTo>
                  <a:cubicBezTo>
                    <a:pt x="2951" y="1025741"/>
                    <a:pt x="0" y="1018616"/>
                    <a:pt x="0" y="1011186"/>
                  </a:cubicBezTo>
                  <a:lnTo>
                    <a:pt x="0" y="28012"/>
                  </a:lnTo>
                  <a:cubicBezTo>
                    <a:pt x="0" y="20583"/>
                    <a:pt x="2951" y="13458"/>
                    <a:pt x="8205" y="8205"/>
                  </a:cubicBezTo>
                  <a:cubicBezTo>
                    <a:pt x="13458" y="2951"/>
                    <a:pt x="20583" y="0"/>
                    <a:pt x="2801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1111">
                    <a:alpha val="100000"/>
                  </a:srgbClr>
                </a:gs>
                <a:gs pos="100000">
                  <a:srgbClr val="111111">
                    <a:alpha val="30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2110915" cy="10677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9755107" y="5359695"/>
            <a:ext cx="3050490" cy="873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9"/>
              </a:lnSpc>
            </a:pPr>
            <a:r>
              <a:rPr lang="en-US" sz="2711" spc="-17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Statistical Plan</a:t>
            </a:r>
          </a:p>
          <a:p>
            <a:pPr algn="l" marL="0" indent="0" lvl="0">
              <a:lnSpc>
                <a:spcPts val="3579"/>
              </a:lnSpc>
            </a:pPr>
          </a:p>
        </p:txBody>
      </p:sp>
      <p:sp>
        <p:nvSpPr>
          <p:cNvPr name="AutoShape 39" id="39"/>
          <p:cNvSpPr/>
          <p:nvPr/>
        </p:nvSpPr>
        <p:spPr>
          <a:xfrm flipV="true">
            <a:off x="12197271" y="5577917"/>
            <a:ext cx="3368202" cy="14461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0" id="40"/>
          <p:cNvSpPr txBox="true"/>
          <p:nvPr/>
        </p:nvSpPr>
        <p:spPr>
          <a:xfrm rot="0">
            <a:off x="13507317" y="5372401"/>
            <a:ext cx="3396078" cy="411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15"/>
              </a:lnSpc>
            </a:pPr>
            <a:r>
              <a:rPr lang="en-US" b="true" sz="2511" spc="-16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08.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755107" y="6154883"/>
            <a:ext cx="3269364" cy="873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9"/>
              </a:lnSpc>
            </a:pPr>
            <a:r>
              <a:rPr lang="en-US" sz="2711" spc="-17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Threats and Mitigation</a:t>
            </a:r>
          </a:p>
          <a:p>
            <a:pPr algn="l" marL="0" indent="0" lvl="0">
              <a:lnSpc>
                <a:spcPts val="3579"/>
              </a:lnSpc>
            </a:pPr>
          </a:p>
        </p:txBody>
      </p:sp>
      <p:sp>
        <p:nvSpPr>
          <p:cNvPr name="AutoShape 42" id="42"/>
          <p:cNvSpPr/>
          <p:nvPr/>
        </p:nvSpPr>
        <p:spPr>
          <a:xfrm flipV="true">
            <a:off x="13134548" y="6368342"/>
            <a:ext cx="2430925" cy="4762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3" id="43"/>
          <p:cNvSpPr txBox="true"/>
          <p:nvPr/>
        </p:nvSpPr>
        <p:spPr>
          <a:xfrm rot="0">
            <a:off x="13507317" y="6145358"/>
            <a:ext cx="3396078" cy="411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15"/>
              </a:lnSpc>
            </a:pPr>
            <a:r>
              <a:rPr lang="en-US" b="true" sz="2511" spc="-16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09.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737790" y="7101850"/>
            <a:ext cx="3269364" cy="873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79"/>
              </a:lnSpc>
            </a:pPr>
            <a:r>
              <a:rPr lang="en-US" sz="2711" spc="-17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Timeline and Roles</a:t>
            </a:r>
          </a:p>
          <a:p>
            <a:pPr algn="l" marL="0" indent="0" lvl="0">
              <a:lnSpc>
                <a:spcPts val="3579"/>
              </a:lnSpc>
            </a:pPr>
          </a:p>
        </p:txBody>
      </p:sp>
      <p:sp>
        <p:nvSpPr>
          <p:cNvPr name="AutoShape 45" id="45"/>
          <p:cNvSpPr/>
          <p:nvPr/>
        </p:nvSpPr>
        <p:spPr>
          <a:xfrm>
            <a:off x="12752567" y="7348564"/>
            <a:ext cx="2791019" cy="1052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6" id="46"/>
          <p:cNvSpPr txBox="true"/>
          <p:nvPr/>
        </p:nvSpPr>
        <p:spPr>
          <a:xfrm rot="0">
            <a:off x="13507317" y="7119112"/>
            <a:ext cx="3396078" cy="832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15"/>
              </a:lnSpc>
            </a:pPr>
            <a:r>
              <a:rPr lang="en-US" b="true" sz="2511" spc="-16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10.</a:t>
            </a:r>
          </a:p>
          <a:p>
            <a:pPr algn="r" marL="0" indent="0" lvl="0">
              <a:lnSpc>
                <a:spcPts val="3315"/>
              </a:lnSpc>
            </a:pPr>
          </a:p>
        </p:txBody>
      </p:sp>
      <p:sp>
        <p:nvSpPr>
          <p:cNvPr name="TextBox 47" id="47"/>
          <p:cNvSpPr txBox="true"/>
          <p:nvPr/>
        </p:nvSpPr>
        <p:spPr>
          <a:xfrm rot="0">
            <a:off x="9691730" y="7918804"/>
            <a:ext cx="3560130" cy="873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79"/>
              </a:lnSpc>
            </a:pPr>
            <a:r>
              <a:rPr lang="en-US" sz="2711" spc="-17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Expected Contribution</a:t>
            </a:r>
          </a:p>
          <a:p>
            <a:pPr algn="l" marL="0" indent="0" lvl="0">
              <a:lnSpc>
                <a:spcPts val="3579"/>
              </a:lnSpc>
            </a:pPr>
          </a:p>
        </p:txBody>
      </p:sp>
      <p:sp>
        <p:nvSpPr>
          <p:cNvPr name="AutoShape 48" id="48"/>
          <p:cNvSpPr/>
          <p:nvPr/>
        </p:nvSpPr>
        <p:spPr>
          <a:xfrm>
            <a:off x="13184125" y="8178223"/>
            <a:ext cx="2381348" cy="28389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9" id="49"/>
          <p:cNvSpPr txBox="true"/>
          <p:nvPr/>
        </p:nvSpPr>
        <p:spPr>
          <a:xfrm rot="0">
            <a:off x="13470935" y="7923004"/>
            <a:ext cx="3396078" cy="832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15"/>
              </a:lnSpc>
            </a:pPr>
            <a:r>
              <a:rPr lang="en-US" b="true" sz="2511" spc="-16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11.</a:t>
            </a:r>
          </a:p>
          <a:p>
            <a:pPr algn="r" marL="0" indent="0" lvl="0">
              <a:lnSpc>
                <a:spcPts val="3315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17794" y="-3123899"/>
            <a:ext cx="8140412" cy="8229600"/>
          </a:xfrm>
          <a:custGeom>
            <a:avLst/>
            <a:gdLst/>
            <a:ahLst/>
            <a:cxnLst/>
            <a:rect r="r" b="b" t="t" l="l"/>
            <a:pathLst>
              <a:path h="8229600" w="8140412">
                <a:moveTo>
                  <a:pt x="0" y="0"/>
                </a:moveTo>
                <a:lnTo>
                  <a:pt x="8140412" y="0"/>
                </a:lnTo>
                <a:lnTo>
                  <a:pt x="81404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102904" y="3607626"/>
            <a:ext cx="8140412" cy="8229600"/>
          </a:xfrm>
          <a:custGeom>
            <a:avLst/>
            <a:gdLst/>
            <a:ahLst/>
            <a:cxnLst/>
            <a:rect r="r" b="b" t="t" l="l"/>
            <a:pathLst>
              <a:path h="8229600" w="8140412">
                <a:moveTo>
                  <a:pt x="0" y="0"/>
                </a:moveTo>
                <a:lnTo>
                  <a:pt x="8140412" y="0"/>
                </a:lnTo>
                <a:lnTo>
                  <a:pt x="81404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056785" y="-52151"/>
            <a:ext cx="8140412" cy="8229600"/>
          </a:xfrm>
          <a:custGeom>
            <a:avLst/>
            <a:gdLst/>
            <a:ahLst/>
            <a:cxnLst/>
            <a:rect r="r" b="b" t="t" l="l"/>
            <a:pathLst>
              <a:path h="8229600" w="8140412">
                <a:moveTo>
                  <a:pt x="0" y="0"/>
                </a:moveTo>
                <a:lnTo>
                  <a:pt x="8140412" y="0"/>
                </a:lnTo>
                <a:lnTo>
                  <a:pt x="81404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041506" y="7315309"/>
            <a:ext cx="8140412" cy="8229600"/>
          </a:xfrm>
          <a:custGeom>
            <a:avLst/>
            <a:gdLst/>
            <a:ahLst/>
            <a:cxnLst/>
            <a:rect r="r" b="b" t="t" l="l"/>
            <a:pathLst>
              <a:path h="8229600" w="8140412">
                <a:moveTo>
                  <a:pt x="0" y="0"/>
                </a:moveTo>
                <a:lnTo>
                  <a:pt x="8140412" y="0"/>
                </a:lnTo>
                <a:lnTo>
                  <a:pt x="81404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 flipH="true">
            <a:off x="1323510" y="79955"/>
            <a:ext cx="2733802" cy="10202689"/>
          </a:xfrm>
          <a:prstGeom prst="line">
            <a:avLst/>
          </a:prstGeom>
          <a:ln cap="flat" w="9525">
            <a:gradFill>
              <a:gsLst>
                <a:gs pos="0">
                  <a:srgbClr val="00E5ED">
                    <a:alpha val="100000"/>
                  </a:srgbClr>
                </a:gs>
                <a:gs pos="33333">
                  <a:srgbClr val="00E5ED">
                    <a:alpha val="0"/>
                  </a:srgbClr>
                </a:gs>
                <a:gs pos="66667">
                  <a:srgbClr val="00E5ED">
                    <a:alpha val="0"/>
                  </a:srgbClr>
                </a:gs>
                <a:gs pos="100000">
                  <a:srgbClr val="00E5E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9140744" y="67804"/>
            <a:ext cx="0" cy="10226990"/>
          </a:xfrm>
          <a:prstGeom prst="line">
            <a:avLst/>
          </a:prstGeom>
          <a:ln cap="flat" w="9525">
            <a:gradFill>
              <a:gsLst>
                <a:gs pos="0">
                  <a:srgbClr val="00E5ED">
                    <a:alpha val="100000"/>
                  </a:srgbClr>
                </a:gs>
                <a:gs pos="33333">
                  <a:srgbClr val="00E5ED">
                    <a:alpha val="0"/>
                  </a:srgbClr>
                </a:gs>
                <a:gs pos="66667">
                  <a:srgbClr val="00E5ED">
                    <a:alpha val="0"/>
                  </a:srgbClr>
                </a:gs>
                <a:gs pos="100000">
                  <a:srgbClr val="00E5E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4224177" y="67804"/>
            <a:ext cx="2740314" cy="10226990"/>
          </a:xfrm>
          <a:prstGeom prst="line">
            <a:avLst/>
          </a:prstGeom>
          <a:ln cap="flat" w="9525">
            <a:gradFill>
              <a:gsLst>
                <a:gs pos="0">
                  <a:srgbClr val="00E5ED">
                    <a:alpha val="100000"/>
                  </a:srgbClr>
                </a:gs>
                <a:gs pos="33333">
                  <a:srgbClr val="00E5ED">
                    <a:alpha val="0"/>
                  </a:srgbClr>
                </a:gs>
                <a:gs pos="66667">
                  <a:srgbClr val="00E5ED">
                    <a:alpha val="0"/>
                  </a:srgbClr>
                </a:gs>
                <a:gs pos="100000">
                  <a:srgbClr val="00E5E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829136" y="4868908"/>
            <a:ext cx="7687721" cy="5055429"/>
            <a:chOff x="0" y="0"/>
            <a:chExt cx="2024750" cy="133147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24749" cy="1331471"/>
            </a:xfrm>
            <a:custGeom>
              <a:avLst/>
              <a:gdLst/>
              <a:ahLst/>
              <a:cxnLst/>
              <a:rect r="r" b="b" t="t" l="l"/>
              <a:pathLst>
                <a:path h="1331471" w="2024749">
                  <a:moveTo>
                    <a:pt x="29204" y="0"/>
                  </a:moveTo>
                  <a:lnTo>
                    <a:pt x="1995545" y="0"/>
                  </a:lnTo>
                  <a:cubicBezTo>
                    <a:pt x="2003291" y="0"/>
                    <a:pt x="2010719" y="3077"/>
                    <a:pt x="2016196" y="8554"/>
                  </a:cubicBezTo>
                  <a:cubicBezTo>
                    <a:pt x="2021673" y="14031"/>
                    <a:pt x="2024749" y="21459"/>
                    <a:pt x="2024749" y="29204"/>
                  </a:cubicBezTo>
                  <a:lnTo>
                    <a:pt x="2024749" y="1302267"/>
                  </a:lnTo>
                  <a:cubicBezTo>
                    <a:pt x="2024749" y="1310012"/>
                    <a:pt x="2021673" y="1317440"/>
                    <a:pt x="2016196" y="1322917"/>
                  </a:cubicBezTo>
                  <a:cubicBezTo>
                    <a:pt x="2010719" y="1328394"/>
                    <a:pt x="2003291" y="1331471"/>
                    <a:pt x="1995545" y="1331471"/>
                  </a:cubicBezTo>
                  <a:lnTo>
                    <a:pt x="29204" y="1331471"/>
                  </a:lnTo>
                  <a:cubicBezTo>
                    <a:pt x="21459" y="1331471"/>
                    <a:pt x="14031" y="1328394"/>
                    <a:pt x="8554" y="1322917"/>
                  </a:cubicBezTo>
                  <a:cubicBezTo>
                    <a:pt x="3077" y="1317440"/>
                    <a:pt x="0" y="1310012"/>
                    <a:pt x="0" y="1302267"/>
                  </a:cubicBezTo>
                  <a:lnTo>
                    <a:pt x="0" y="29204"/>
                  </a:lnTo>
                  <a:cubicBezTo>
                    <a:pt x="0" y="21459"/>
                    <a:pt x="3077" y="14031"/>
                    <a:pt x="8554" y="8554"/>
                  </a:cubicBezTo>
                  <a:cubicBezTo>
                    <a:pt x="14031" y="3077"/>
                    <a:pt x="21459" y="0"/>
                    <a:pt x="2920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1111">
                    <a:alpha val="100000"/>
                  </a:srgbClr>
                </a:gs>
                <a:gs pos="100000">
                  <a:srgbClr val="111111">
                    <a:alpha val="30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2024750" cy="13600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764632" y="4868908"/>
            <a:ext cx="7490734" cy="5055429"/>
            <a:chOff x="0" y="0"/>
            <a:chExt cx="1972868" cy="133147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72868" cy="1331471"/>
            </a:xfrm>
            <a:custGeom>
              <a:avLst/>
              <a:gdLst/>
              <a:ahLst/>
              <a:cxnLst/>
              <a:rect r="r" b="b" t="t" l="l"/>
              <a:pathLst>
                <a:path h="1331471" w="1972868">
                  <a:moveTo>
                    <a:pt x="29972" y="0"/>
                  </a:moveTo>
                  <a:lnTo>
                    <a:pt x="1942896" y="0"/>
                  </a:lnTo>
                  <a:cubicBezTo>
                    <a:pt x="1959449" y="0"/>
                    <a:pt x="1972868" y="13419"/>
                    <a:pt x="1972868" y="29972"/>
                  </a:cubicBezTo>
                  <a:lnTo>
                    <a:pt x="1972868" y="1301499"/>
                  </a:lnTo>
                  <a:cubicBezTo>
                    <a:pt x="1972868" y="1309448"/>
                    <a:pt x="1969711" y="1317071"/>
                    <a:pt x="1964090" y="1322692"/>
                  </a:cubicBezTo>
                  <a:cubicBezTo>
                    <a:pt x="1958469" y="1328313"/>
                    <a:pt x="1950845" y="1331471"/>
                    <a:pt x="1942896" y="1331471"/>
                  </a:cubicBezTo>
                  <a:lnTo>
                    <a:pt x="29972" y="1331471"/>
                  </a:lnTo>
                  <a:cubicBezTo>
                    <a:pt x="13419" y="1331471"/>
                    <a:pt x="0" y="1318052"/>
                    <a:pt x="0" y="1301499"/>
                  </a:cubicBezTo>
                  <a:lnTo>
                    <a:pt x="0" y="29972"/>
                  </a:lnTo>
                  <a:cubicBezTo>
                    <a:pt x="0" y="13419"/>
                    <a:pt x="13419" y="0"/>
                    <a:pt x="2997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1111">
                    <a:alpha val="100000"/>
                  </a:srgbClr>
                </a:gs>
                <a:gs pos="100000">
                  <a:srgbClr val="111111">
                    <a:alpha val="30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972868" cy="13600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321475" y="-750352"/>
            <a:ext cx="6933892" cy="5189913"/>
            <a:chOff x="0" y="0"/>
            <a:chExt cx="1826210" cy="136689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26210" cy="1366891"/>
            </a:xfrm>
            <a:custGeom>
              <a:avLst/>
              <a:gdLst/>
              <a:ahLst/>
              <a:cxnLst/>
              <a:rect r="r" b="b" t="t" l="l"/>
              <a:pathLst>
                <a:path h="1366891" w="1826210">
                  <a:moveTo>
                    <a:pt x="32379" y="0"/>
                  </a:moveTo>
                  <a:lnTo>
                    <a:pt x="1793831" y="0"/>
                  </a:lnTo>
                  <a:cubicBezTo>
                    <a:pt x="1811713" y="0"/>
                    <a:pt x="1826210" y="14497"/>
                    <a:pt x="1826210" y="32379"/>
                  </a:cubicBezTo>
                  <a:lnTo>
                    <a:pt x="1826210" y="1334511"/>
                  </a:lnTo>
                  <a:cubicBezTo>
                    <a:pt x="1826210" y="1352394"/>
                    <a:pt x="1811713" y="1366891"/>
                    <a:pt x="1793831" y="1366891"/>
                  </a:cubicBezTo>
                  <a:lnTo>
                    <a:pt x="32379" y="1366891"/>
                  </a:lnTo>
                  <a:cubicBezTo>
                    <a:pt x="14497" y="1366891"/>
                    <a:pt x="0" y="1352394"/>
                    <a:pt x="0" y="1334511"/>
                  </a:cubicBezTo>
                  <a:lnTo>
                    <a:pt x="0" y="32379"/>
                  </a:lnTo>
                  <a:cubicBezTo>
                    <a:pt x="0" y="14497"/>
                    <a:pt x="14497" y="0"/>
                    <a:pt x="3237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1111">
                    <a:alpha val="100000"/>
                  </a:srgbClr>
                </a:gs>
                <a:gs pos="100000">
                  <a:srgbClr val="111111">
                    <a:alpha val="30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826210" cy="13954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494397" y="390909"/>
            <a:ext cx="6588046" cy="3885983"/>
            <a:chOff x="0" y="0"/>
            <a:chExt cx="1020661" cy="6020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20661" cy="602040"/>
            </a:xfrm>
            <a:custGeom>
              <a:avLst/>
              <a:gdLst/>
              <a:ahLst/>
              <a:cxnLst/>
              <a:rect r="r" b="b" t="t" l="l"/>
              <a:pathLst>
                <a:path h="602040" w="1020661">
                  <a:moveTo>
                    <a:pt x="27028" y="0"/>
                  </a:moveTo>
                  <a:lnTo>
                    <a:pt x="993632" y="0"/>
                  </a:lnTo>
                  <a:cubicBezTo>
                    <a:pt x="1000801" y="0"/>
                    <a:pt x="1007676" y="2848"/>
                    <a:pt x="1012744" y="7916"/>
                  </a:cubicBezTo>
                  <a:cubicBezTo>
                    <a:pt x="1017813" y="12985"/>
                    <a:pt x="1020661" y="19860"/>
                    <a:pt x="1020661" y="27028"/>
                  </a:cubicBezTo>
                  <a:lnTo>
                    <a:pt x="1020661" y="575012"/>
                  </a:lnTo>
                  <a:cubicBezTo>
                    <a:pt x="1020661" y="582180"/>
                    <a:pt x="1017813" y="589055"/>
                    <a:pt x="1012744" y="594124"/>
                  </a:cubicBezTo>
                  <a:cubicBezTo>
                    <a:pt x="1007676" y="599193"/>
                    <a:pt x="1000801" y="602040"/>
                    <a:pt x="993632" y="602040"/>
                  </a:cubicBezTo>
                  <a:lnTo>
                    <a:pt x="27028" y="602040"/>
                  </a:lnTo>
                  <a:cubicBezTo>
                    <a:pt x="19860" y="602040"/>
                    <a:pt x="12985" y="599193"/>
                    <a:pt x="7916" y="594124"/>
                  </a:cubicBezTo>
                  <a:cubicBezTo>
                    <a:pt x="2848" y="589055"/>
                    <a:pt x="0" y="582180"/>
                    <a:pt x="0" y="575012"/>
                  </a:cubicBezTo>
                  <a:lnTo>
                    <a:pt x="0" y="27028"/>
                  </a:lnTo>
                  <a:cubicBezTo>
                    <a:pt x="0" y="19860"/>
                    <a:pt x="2848" y="12985"/>
                    <a:pt x="7916" y="7916"/>
                  </a:cubicBezTo>
                  <a:cubicBezTo>
                    <a:pt x="12985" y="2848"/>
                    <a:pt x="19860" y="0"/>
                    <a:pt x="27028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26575" r="0" b="-26575"/>
              </a:stretch>
            </a:blip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003A04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028700" y="2562500"/>
            <a:ext cx="7642809" cy="1877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20"/>
              </a:lnSpc>
            </a:pPr>
            <a:r>
              <a:rPr lang="en-US" b="true" sz="8000" spc="-44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</a:t>
            </a:r>
            <a:r>
              <a:rPr lang="en-US" b="true" sz="8000" spc="-44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OBLEM &amp; MOTIVATION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1037924"/>
            <a:ext cx="3821405" cy="363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spc="-165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Trần Bích Trâm - SE190313  ( PL 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09893" y="5095875"/>
            <a:ext cx="7235644" cy="425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Các</a:t>
            </a:r>
            <a:r>
              <a:rPr lang="en-US" sz="25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nghiên cứu về sinh Unit Test bằng LLM thường đánh giá bằng: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• Line Coverage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• Branch Coverage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• Build Success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Tuy nhiên,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31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Coverage cao không đồng nghĩa với khả năng phát hiện lỗi tốt.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163075" y="4968984"/>
            <a:ext cx="6693848" cy="460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Motivation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Nghiên cứu ID 55 (MutGen - 2026) cho thấy: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</a:p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FF31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100% Coverage</a:t>
            </a:r>
          </a:p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FF31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≠</a:t>
            </a:r>
          </a:p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FF31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4% Mutation Score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Test có thể chạy qua toàn bộ mã nguồn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nhưng vẫn bỏ sót phần lớn lỗi tiềm ẩn.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17794" y="-3123899"/>
            <a:ext cx="8140412" cy="8229600"/>
          </a:xfrm>
          <a:custGeom>
            <a:avLst/>
            <a:gdLst/>
            <a:ahLst/>
            <a:cxnLst/>
            <a:rect r="r" b="b" t="t" l="l"/>
            <a:pathLst>
              <a:path h="8229600" w="8140412">
                <a:moveTo>
                  <a:pt x="0" y="0"/>
                </a:moveTo>
                <a:lnTo>
                  <a:pt x="8140412" y="0"/>
                </a:lnTo>
                <a:lnTo>
                  <a:pt x="81404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102904" y="3607626"/>
            <a:ext cx="8140412" cy="8229600"/>
          </a:xfrm>
          <a:custGeom>
            <a:avLst/>
            <a:gdLst/>
            <a:ahLst/>
            <a:cxnLst/>
            <a:rect r="r" b="b" t="t" l="l"/>
            <a:pathLst>
              <a:path h="8229600" w="8140412">
                <a:moveTo>
                  <a:pt x="0" y="0"/>
                </a:moveTo>
                <a:lnTo>
                  <a:pt x="8140412" y="0"/>
                </a:lnTo>
                <a:lnTo>
                  <a:pt x="81404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056785" y="-52151"/>
            <a:ext cx="8140412" cy="8229600"/>
          </a:xfrm>
          <a:custGeom>
            <a:avLst/>
            <a:gdLst/>
            <a:ahLst/>
            <a:cxnLst/>
            <a:rect r="r" b="b" t="t" l="l"/>
            <a:pathLst>
              <a:path h="8229600" w="8140412">
                <a:moveTo>
                  <a:pt x="0" y="0"/>
                </a:moveTo>
                <a:lnTo>
                  <a:pt x="8140412" y="0"/>
                </a:lnTo>
                <a:lnTo>
                  <a:pt x="81404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041506" y="7315309"/>
            <a:ext cx="8140412" cy="8229600"/>
          </a:xfrm>
          <a:custGeom>
            <a:avLst/>
            <a:gdLst/>
            <a:ahLst/>
            <a:cxnLst/>
            <a:rect r="r" b="b" t="t" l="l"/>
            <a:pathLst>
              <a:path h="8229600" w="8140412">
                <a:moveTo>
                  <a:pt x="0" y="0"/>
                </a:moveTo>
                <a:lnTo>
                  <a:pt x="8140412" y="0"/>
                </a:lnTo>
                <a:lnTo>
                  <a:pt x="81404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 flipH="true">
            <a:off x="1323510" y="79955"/>
            <a:ext cx="2733802" cy="10202689"/>
          </a:xfrm>
          <a:prstGeom prst="line">
            <a:avLst/>
          </a:prstGeom>
          <a:ln cap="flat" w="9525">
            <a:gradFill>
              <a:gsLst>
                <a:gs pos="0">
                  <a:srgbClr val="00E5ED">
                    <a:alpha val="100000"/>
                  </a:srgbClr>
                </a:gs>
                <a:gs pos="33333">
                  <a:srgbClr val="00E5ED">
                    <a:alpha val="0"/>
                  </a:srgbClr>
                </a:gs>
                <a:gs pos="66667">
                  <a:srgbClr val="00E5ED">
                    <a:alpha val="0"/>
                  </a:srgbClr>
                </a:gs>
                <a:gs pos="100000">
                  <a:srgbClr val="00E5E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9140744" y="67804"/>
            <a:ext cx="0" cy="10226990"/>
          </a:xfrm>
          <a:prstGeom prst="line">
            <a:avLst/>
          </a:prstGeom>
          <a:ln cap="flat" w="9525">
            <a:gradFill>
              <a:gsLst>
                <a:gs pos="0">
                  <a:srgbClr val="00E5ED">
                    <a:alpha val="100000"/>
                  </a:srgbClr>
                </a:gs>
                <a:gs pos="33333">
                  <a:srgbClr val="00E5ED">
                    <a:alpha val="0"/>
                  </a:srgbClr>
                </a:gs>
                <a:gs pos="66667">
                  <a:srgbClr val="00E5ED">
                    <a:alpha val="0"/>
                  </a:srgbClr>
                </a:gs>
                <a:gs pos="100000">
                  <a:srgbClr val="00E5E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4224177" y="67804"/>
            <a:ext cx="2740314" cy="10226990"/>
          </a:xfrm>
          <a:prstGeom prst="line">
            <a:avLst/>
          </a:prstGeom>
          <a:ln cap="flat" w="9525">
            <a:gradFill>
              <a:gsLst>
                <a:gs pos="0">
                  <a:srgbClr val="00E5ED">
                    <a:alpha val="100000"/>
                  </a:srgbClr>
                </a:gs>
                <a:gs pos="33333">
                  <a:srgbClr val="00E5ED">
                    <a:alpha val="0"/>
                  </a:srgbClr>
                </a:gs>
                <a:gs pos="66667">
                  <a:srgbClr val="00E5ED">
                    <a:alpha val="0"/>
                  </a:srgbClr>
                </a:gs>
                <a:gs pos="100000">
                  <a:srgbClr val="00E5E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028700" y="4845529"/>
            <a:ext cx="6148399" cy="4122985"/>
            <a:chOff x="0" y="0"/>
            <a:chExt cx="1619331" cy="108588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19331" cy="1085889"/>
            </a:xfrm>
            <a:custGeom>
              <a:avLst/>
              <a:gdLst/>
              <a:ahLst/>
              <a:cxnLst/>
              <a:rect r="r" b="b" t="t" l="l"/>
              <a:pathLst>
                <a:path h="1085889" w="1619331">
                  <a:moveTo>
                    <a:pt x="36516" y="0"/>
                  </a:moveTo>
                  <a:lnTo>
                    <a:pt x="1582815" y="0"/>
                  </a:lnTo>
                  <a:cubicBezTo>
                    <a:pt x="1602983" y="0"/>
                    <a:pt x="1619331" y="16349"/>
                    <a:pt x="1619331" y="36516"/>
                  </a:cubicBezTo>
                  <a:lnTo>
                    <a:pt x="1619331" y="1049373"/>
                  </a:lnTo>
                  <a:cubicBezTo>
                    <a:pt x="1619331" y="1059058"/>
                    <a:pt x="1615484" y="1068346"/>
                    <a:pt x="1608636" y="1075194"/>
                  </a:cubicBezTo>
                  <a:cubicBezTo>
                    <a:pt x="1601788" y="1082042"/>
                    <a:pt x="1592500" y="1085889"/>
                    <a:pt x="1582815" y="1085889"/>
                  </a:cubicBezTo>
                  <a:lnTo>
                    <a:pt x="36516" y="1085889"/>
                  </a:lnTo>
                  <a:cubicBezTo>
                    <a:pt x="26831" y="1085889"/>
                    <a:pt x="17543" y="1082042"/>
                    <a:pt x="10695" y="1075194"/>
                  </a:cubicBezTo>
                  <a:cubicBezTo>
                    <a:pt x="3847" y="1068346"/>
                    <a:pt x="0" y="1059058"/>
                    <a:pt x="0" y="1049373"/>
                  </a:cubicBezTo>
                  <a:lnTo>
                    <a:pt x="0" y="36516"/>
                  </a:lnTo>
                  <a:cubicBezTo>
                    <a:pt x="0" y="26831"/>
                    <a:pt x="3847" y="17543"/>
                    <a:pt x="10695" y="10695"/>
                  </a:cubicBezTo>
                  <a:cubicBezTo>
                    <a:pt x="17543" y="3847"/>
                    <a:pt x="26831" y="0"/>
                    <a:pt x="365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1111">
                    <a:alpha val="100000"/>
                  </a:srgbClr>
                </a:gs>
                <a:gs pos="100000">
                  <a:srgbClr val="111111">
                    <a:alpha val="30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619331" cy="1114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069395" y="5747194"/>
            <a:ext cx="9189905" cy="4014516"/>
            <a:chOff x="0" y="0"/>
            <a:chExt cx="2420386" cy="105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20387" cy="1057321"/>
            </a:xfrm>
            <a:custGeom>
              <a:avLst/>
              <a:gdLst/>
              <a:ahLst/>
              <a:cxnLst/>
              <a:rect r="r" b="b" t="t" l="l"/>
              <a:pathLst>
                <a:path h="1057321" w="2420387">
                  <a:moveTo>
                    <a:pt x="24431" y="0"/>
                  </a:moveTo>
                  <a:lnTo>
                    <a:pt x="2395956" y="0"/>
                  </a:lnTo>
                  <a:cubicBezTo>
                    <a:pt x="2409449" y="0"/>
                    <a:pt x="2420387" y="10938"/>
                    <a:pt x="2420387" y="24431"/>
                  </a:cubicBezTo>
                  <a:lnTo>
                    <a:pt x="2420387" y="1032890"/>
                  </a:lnTo>
                  <a:cubicBezTo>
                    <a:pt x="2420387" y="1046383"/>
                    <a:pt x="2409449" y="1057321"/>
                    <a:pt x="2395956" y="1057321"/>
                  </a:cubicBezTo>
                  <a:lnTo>
                    <a:pt x="24431" y="1057321"/>
                  </a:lnTo>
                  <a:cubicBezTo>
                    <a:pt x="10938" y="1057321"/>
                    <a:pt x="0" y="1046383"/>
                    <a:pt x="0" y="1032890"/>
                  </a:cubicBezTo>
                  <a:lnTo>
                    <a:pt x="0" y="24431"/>
                  </a:lnTo>
                  <a:cubicBezTo>
                    <a:pt x="0" y="10938"/>
                    <a:pt x="10938" y="0"/>
                    <a:pt x="2443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1111">
                    <a:alpha val="100000"/>
                  </a:srgbClr>
                </a:gs>
                <a:gs pos="100000">
                  <a:srgbClr val="111111">
                    <a:alpha val="30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2420386" cy="1085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908386" y="1279885"/>
            <a:ext cx="8794645" cy="3863615"/>
            <a:chOff x="0" y="0"/>
            <a:chExt cx="2316285" cy="101757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316285" cy="1017578"/>
            </a:xfrm>
            <a:custGeom>
              <a:avLst/>
              <a:gdLst/>
              <a:ahLst/>
              <a:cxnLst/>
              <a:rect r="r" b="b" t="t" l="l"/>
              <a:pathLst>
                <a:path h="1017578" w="2316285">
                  <a:moveTo>
                    <a:pt x="25529" y="0"/>
                  </a:moveTo>
                  <a:lnTo>
                    <a:pt x="2290756" y="0"/>
                  </a:lnTo>
                  <a:cubicBezTo>
                    <a:pt x="2297527" y="0"/>
                    <a:pt x="2304020" y="2690"/>
                    <a:pt x="2308808" y="7477"/>
                  </a:cubicBezTo>
                  <a:cubicBezTo>
                    <a:pt x="2313595" y="12265"/>
                    <a:pt x="2316285" y="18758"/>
                    <a:pt x="2316285" y="25529"/>
                  </a:cubicBezTo>
                  <a:lnTo>
                    <a:pt x="2316285" y="992049"/>
                  </a:lnTo>
                  <a:cubicBezTo>
                    <a:pt x="2316285" y="998820"/>
                    <a:pt x="2313595" y="1005313"/>
                    <a:pt x="2308808" y="1010101"/>
                  </a:cubicBezTo>
                  <a:cubicBezTo>
                    <a:pt x="2304020" y="1014888"/>
                    <a:pt x="2297527" y="1017578"/>
                    <a:pt x="2290756" y="1017578"/>
                  </a:cubicBezTo>
                  <a:lnTo>
                    <a:pt x="25529" y="1017578"/>
                  </a:lnTo>
                  <a:cubicBezTo>
                    <a:pt x="18758" y="1017578"/>
                    <a:pt x="12265" y="1014888"/>
                    <a:pt x="7477" y="1010101"/>
                  </a:cubicBezTo>
                  <a:cubicBezTo>
                    <a:pt x="2690" y="1005313"/>
                    <a:pt x="0" y="998820"/>
                    <a:pt x="0" y="992049"/>
                  </a:cubicBezTo>
                  <a:lnTo>
                    <a:pt x="0" y="25529"/>
                  </a:lnTo>
                  <a:cubicBezTo>
                    <a:pt x="0" y="18758"/>
                    <a:pt x="2690" y="12265"/>
                    <a:pt x="7477" y="7477"/>
                  </a:cubicBezTo>
                  <a:cubicBezTo>
                    <a:pt x="12265" y="2690"/>
                    <a:pt x="18758" y="0"/>
                    <a:pt x="2552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1111">
                    <a:alpha val="100000"/>
                  </a:srgbClr>
                </a:gs>
                <a:gs pos="100000">
                  <a:srgbClr val="111111">
                    <a:alpha val="30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2316285" cy="10461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28700" y="2562500"/>
            <a:ext cx="8112044" cy="1877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20"/>
              </a:lnSpc>
            </a:pPr>
            <a:r>
              <a:rPr lang="en-US" b="true" sz="8000" spc="-44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EVIDENCE</a:t>
            </a:r>
            <a:r>
              <a:rPr lang="en-US" b="true" sz="8000" spc="-44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FROM RELATED WORK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23510" y="6131970"/>
            <a:ext cx="5853589" cy="2836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Hệ</a:t>
            </a:r>
            <a:r>
              <a:rPr lang="en-US" sz="269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thống chỉ số đánh giá thiếu tính đồng nhất.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FF31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Hậu quả: Gây khó khăn khi đối chiếu chéo giữa các nghiên cứu.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8452168" y="6859397"/>
            <a:ext cx="8512322" cy="272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Lệ thuộc nặng nề vào các tập dữ liệu nhân tạo (Synthetic datasets).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FF31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Hậu quả: Kết quả mang tính lý thuyết, thiếu độ tin cậy trong môi trường thực tế.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0291159" y="2462819"/>
            <a:ext cx="6112589" cy="261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</a:t>
            </a:r>
            <a:r>
              <a:rPr lang="en-US" sz="249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utation testing chưa được coi là tiêu chuẩn đánh giá cốt lõi.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31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Hậu quả: Đánh giá chất lượng test suite bị hạn chế, thiếu chiều sâu.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411473" y="5445195"/>
            <a:ext cx="4923539" cy="735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8"/>
              </a:lnSpc>
            </a:pPr>
            <a:r>
              <a:rPr lang="en-US" b="true" sz="3200" spc="-17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FRAGMENTED</a:t>
            </a:r>
            <a:r>
              <a:rPr lang="en-US" b="true" sz="3200" spc="-17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METRICS</a:t>
            </a:r>
          </a:p>
          <a:p>
            <a:pPr algn="l">
              <a:lnSpc>
                <a:spcPts val="2848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8452168" y="6233829"/>
            <a:ext cx="7604617" cy="787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b="true" sz="3300" spc="-18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SYNTHETIC</a:t>
            </a:r>
            <a:r>
              <a:rPr lang="en-US" b="true" sz="3300" spc="-18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DATASETS</a:t>
            </a:r>
          </a:p>
          <a:p>
            <a:pPr algn="l">
              <a:lnSpc>
                <a:spcPts val="2937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10291159" y="1776045"/>
            <a:ext cx="6968141" cy="800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5"/>
              </a:lnSpc>
            </a:pPr>
            <a:r>
              <a:rPr lang="en-US" b="true" sz="3399" spc="-18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MUTATION AS SECONDARY</a:t>
            </a:r>
          </a:p>
          <a:p>
            <a:pPr algn="l">
              <a:lnSpc>
                <a:spcPts val="3025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00" y="1037924"/>
            <a:ext cx="3821405" cy="363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spc="-165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Trần Bích Trâm - SE190313  ( PL 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17794" y="-3123899"/>
            <a:ext cx="8140412" cy="8229600"/>
          </a:xfrm>
          <a:custGeom>
            <a:avLst/>
            <a:gdLst/>
            <a:ahLst/>
            <a:cxnLst/>
            <a:rect r="r" b="b" t="t" l="l"/>
            <a:pathLst>
              <a:path h="8229600" w="8140412">
                <a:moveTo>
                  <a:pt x="0" y="0"/>
                </a:moveTo>
                <a:lnTo>
                  <a:pt x="8140412" y="0"/>
                </a:lnTo>
                <a:lnTo>
                  <a:pt x="81404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102904" y="3607626"/>
            <a:ext cx="8140412" cy="8229600"/>
          </a:xfrm>
          <a:custGeom>
            <a:avLst/>
            <a:gdLst/>
            <a:ahLst/>
            <a:cxnLst/>
            <a:rect r="r" b="b" t="t" l="l"/>
            <a:pathLst>
              <a:path h="8229600" w="8140412">
                <a:moveTo>
                  <a:pt x="0" y="0"/>
                </a:moveTo>
                <a:lnTo>
                  <a:pt x="8140412" y="0"/>
                </a:lnTo>
                <a:lnTo>
                  <a:pt x="81404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056785" y="-52151"/>
            <a:ext cx="8140412" cy="8229600"/>
          </a:xfrm>
          <a:custGeom>
            <a:avLst/>
            <a:gdLst/>
            <a:ahLst/>
            <a:cxnLst/>
            <a:rect r="r" b="b" t="t" l="l"/>
            <a:pathLst>
              <a:path h="8229600" w="8140412">
                <a:moveTo>
                  <a:pt x="0" y="0"/>
                </a:moveTo>
                <a:lnTo>
                  <a:pt x="8140412" y="0"/>
                </a:lnTo>
                <a:lnTo>
                  <a:pt x="81404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041506" y="7315309"/>
            <a:ext cx="8140412" cy="8229600"/>
          </a:xfrm>
          <a:custGeom>
            <a:avLst/>
            <a:gdLst/>
            <a:ahLst/>
            <a:cxnLst/>
            <a:rect r="r" b="b" t="t" l="l"/>
            <a:pathLst>
              <a:path h="8229600" w="8140412">
                <a:moveTo>
                  <a:pt x="0" y="0"/>
                </a:moveTo>
                <a:lnTo>
                  <a:pt x="8140412" y="0"/>
                </a:lnTo>
                <a:lnTo>
                  <a:pt x="81404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 flipH="true">
            <a:off x="1323510" y="79955"/>
            <a:ext cx="2733802" cy="10202689"/>
          </a:xfrm>
          <a:prstGeom prst="line">
            <a:avLst/>
          </a:prstGeom>
          <a:ln cap="flat" w="9525">
            <a:gradFill>
              <a:gsLst>
                <a:gs pos="0">
                  <a:srgbClr val="00E5ED">
                    <a:alpha val="100000"/>
                  </a:srgbClr>
                </a:gs>
                <a:gs pos="33333">
                  <a:srgbClr val="00E5ED">
                    <a:alpha val="0"/>
                  </a:srgbClr>
                </a:gs>
                <a:gs pos="66667">
                  <a:srgbClr val="00E5ED">
                    <a:alpha val="0"/>
                  </a:srgbClr>
                </a:gs>
                <a:gs pos="100000">
                  <a:srgbClr val="00E5E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9140744" y="67804"/>
            <a:ext cx="0" cy="10226990"/>
          </a:xfrm>
          <a:prstGeom prst="line">
            <a:avLst/>
          </a:prstGeom>
          <a:ln cap="flat" w="9525">
            <a:gradFill>
              <a:gsLst>
                <a:gs pos="0">
                  <a:srgbClr val="00E5ED">
                    <a:alpha val="100000"/>
                  </a:srgbClr>
                </a:gs>
                <a:gs pos="33333">
                  <a:srgbClr val="00E5ED">
                    <a:alpha val="0"/>
                  </a:srgbClr>
                </a:gs>
                <a:gs pos="66667">
                  <a:srgbClr val="00E5ED">
                    <a:alpha val="0"/>
                  </a:srgbClr>
                </a:gs>
                <a:gs pos="100000">
                  <a:srgbClr val="00E5E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4224177" y="67804"/>
            <a:ext cx="2740314" cy="10226990"/>
          </a:xfrm>
          <a:prstGeom prst="line">
            <a:avLst/>
          </a:prstGeom>
          <a:ln cap="flat" w="9525">
            <a:gradFill>
              <a:gsLst>
                <a:gs pos="0">
                  <a:srgbClr val="00E5ED">
                    <a:alpha val="100000"/>
                  </a:srgbClr>
                </a:gs>
                <a:gs pos="33333">
                  <a:srgbClr val="00E5ED">
                    <a:alpha val="0"/>
                  </a:srgbClr>
                </a:gs>
                <a:gs pos="66667">
                  <a:srgbClr val="00E5ED">
                    <a:alpha val="0"/>
                  </a:srgbClr>
                </a:gs>
                <a:gs pos="100000">
                  <a:srgbClr val="00E5E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7719491" y="2056173"/>
            <a:ext cx="8571298" cy="4012952"/>
            <a:chOff x="0" y="0"/>
            <a:chExt cx="2257461" cy="105690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57461" cy="1056909"/>
            </a:xfrm>
            <a:custGeom>
              <a:avLst/>
              <a:gdLst/>
              <a:ahLst/>
              <a:cxnLst/>
              <a:rect r="r" b="b" t="t" l="l"/>
              <a:pathLst>
                <a:path h="1056909" w="2257461">
                  <a:moveTo>
                    <a:pt x="26194" y="0"/>
                  </a:moveTo>
                  <a:lnTo>
                    <a:pt x="2231267" y="0"/>
                  </a:lnTo>
                  <a:cubicBezTo>
                    <a:pt x="2245734" y="0"/>
                    <a:pt x="2257461" y="11727"/>
                    <a:pt x="2257461" y="26194"/>
                  </a:cubicBezTo>
                  <a:lnTo>
                    <a:pt x="2257461" y="1030715"/>
                  </a:lnTo>
                  <a:cubicBezTo>
                    <a:pt x="2257461" y="1037662"/>
                    <a:pt x="2254702" y="1044325"/>
                    <a:pt x="2249789" y="1049237"/>
                  </a:cubicBezTo>
                  <a:cubicBezTo>
                    <a:pt x="2244877" y="1054150"/>
                    <a:pt x="2238214" y="1056909"/>
                    <a:pt x="2231267" y="1056909"/>
                  </a:cubicBezTo>
                  <a:lnTo>
                    <a:pt x="26194" y="1056909"/>
                  </a:lnTo>
                  <a:cubicBezTo>
                    <a:pt x="19247" y="1056909"/>
                    <a:pt x="12584" y="1054150"/>
                    <a:pt x="7672" y="1049237"/>
                  </a:cubicBezTo>
                  <a:cubicBezTo>
                    <a:pt x="2760" y="1044325"/>
                    <a:pt x="0" y="1037662"/>
                    <a:pt x="0" y="1030715"/>
                  </a:cubicBezTo>
                  <a:lnTo>
                    <a:pt x="0" y="26194"/>
                  </a:lnTo>
                  <a:cubicBezTo>
                    <a:pt x="0" y="19247"/>
                    <a:pt x="2760" y="12584"/>
                    <a:pt x="7672" y="7672"/>
                  </a:cubicBezTo>
                  <a:cubicBezTo>
                    <a:pt x="12584" y="2760"/>
                    <a:pt x="19247" y="0"/>
                    <a:pt x="2619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1111">
                    <a:alpha val="100000"/>
                  </a:srgbClr>
                </a:gs>
                <a:gs pos="100000">
                  <a:srgbClr val="111111">
                    <a:alpha val="30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2257461" cy="10854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719491" y="712512"/>
            <a:ext cx="10072308" cy="981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20"/>
              </a:lnSpc>
            </a:pPr>
            <a:r>
              <a:rPr lang="en-US" b="true" sz="8000" spc="-44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RES</a:t>
            </a:r>
            <a:r>
              <a:rPr lang="en-US" b="true" sz="8000" spc="-44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EARCH GAP - 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825512" y="2937387"/>
            <a:ext cx="8359255" cy="2501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i="true" spc="-127">
                <a:solidFill>
                  <a:srgbClr val="E6DFE3"/>
                </a:solidFill>
                <a:latin typeface="Open Sauce Light Italics"/>
                <a:ea typeface="Open Sauce Light Italics"/>
                <a:cs typeface="Open Sauce Light Italics"/>
                <a:sym typeface="Open Sauce Light Italics"/>
              </a:rPr>
              <a:t>Các nghiên cứu hiện có mới chỉ giải quyết riêng lẻ từng yếu tố:</a:t>
            </a:r>
          </a:p>
          <a:p>
            <a:pPr algn="l" marL="518155" indent="-259078" lvl="1">
              <a:lnSpc>
                <a:spcPts val="3359"/>
              </a:lnSpc>
              <a:buFont typeface="Arial"/>
              <a:buChar char="•"/>
            </a:pPr>
            <a:r>
              <a:rPr lang="en-US" sz="2399" spc="-127">
                <a:solidFill>
                  <a:srgbClr val="E6DFE3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Dùng mutation score nhưng</a:t>
            </a:r>
            <a:r>
              <a:rPr lang="en-US" sz="2399" spc="-127">
                <a:solidFill>
                  <a:srgbClr val="E6DFE3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trên benchmark nhân tạo.</a:t>
            </a:r>
          </a:p>
          <a:p>
            <a:pPr algn="l" marL="518155" indent="-259078" lvl="1">
              <a:lnSpc>
                <a:spcPts val="3359"/>
              </a:lnSpc>
              <a:buFont typeface="Arial"/>
              <a:buChar char="•"/>
            </a:pPr>
            <a:r>
              <a:rPr lang="en-US" sz="2399" spc="-127">
                <a:solidFill>
                  <a:srgbClr val="E6DFE3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Dùng real‑world Java nhưng không so với baseline tiêu chuẩn.</a:t>
            </a:r>
          </a:p>
          <a:p>
            <a:pPr algn="l" marL="518155" indent="-259078" lvl="1">
              <a:lnSpc>
                <a:spcPts val="3359"/>
              </a:lnSpc>
              <a:buFont typeface="Arial"/>
              <a:buChar char="•"/>
            </a:pPr>
            <a:r>
              <a:rPr lang="en-US" sz="2399" spc="-127">
                <a:solidFill>
                  <a:srgbClr val="E6DFE3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So sánh với EvoSuite nhưng không dùng mutation làm metric chính.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8045169" y="2282327"/>
            <a:ext cx="6115726" cy="540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1"/>
              </a:lnSpc>
            </a:pPr>
            <a:r>
              <a:rPr lang="en-US" sz="3312" spc="-21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GAP (Khoảng trống):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768077" y="6488225"/>
            <a:ext cx="8112044" cy="3505522"/>
            <a:chOff x="0" y="0"/>
            <a:chExt cx="2136505" cy="92326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36505" cy="923265"/>
            </a:xfrm>
            <a:custGeom>
              <a:avLst/>
              <a:gdLst/>
              <a:ahLst/>
              <a:cxnLst/>
              <a:rect r="r" b="b" t="t" l="l"/>
              <a:pathLst>
                <a:path h="923265" w="2136505">
                  <a:moveTo>
                    <a:pt x="27677" y="0"/>
                  </a:moveTo>
                  <a:lnTo>
                    <a:pt x="2108829" y="0"/>
                  </a:lnTo>
                  <a:cubicBezTo>
                    <a:pt x="2124114" y="0"/>
                    <a:pt x="2136505" y="12391"/>
                    <a:pt x="2136505" y="27677"/>
                  </a:cubicBezTo>
                  <a:lnTo>
                    <a:pt x="2136505" y="895588"/>
                  </a:lnTo>
                  <a:cubicBezTo>
                    <a:pt x="2136505" y="902929"/>
                    <a:pt x="2133590" y="909968"/>
                    <a:pt x="2128399" y="915159"/>
                  </a:cubicBezTo>
                  <a:cubicBezTo>
                    <a:pt x="2123209" y="920349"/>
                    <a:pt x="2116169" y="923265"/>
                    <a:pt x="2108829" y="923265"/>
                  </a:cubicBezTo>
                  <a:lnTo>
                    <a:pt x="27677" y="923265"/>
                  </a:lnTo>
                  <a:cubicBezTo>
                    <a:pt x="20336" y="923265"/>
                    <a:pt x="13297" y="920349"/>
                    <a:pt x="8106" y="915159"/>
                  </a:cubicBezTo>
                  <a:cubicBezTo>
                    <a:pt x="2916" y="909968"/>
                    <a:pt x="0" y="902929"/>
                    <a:pt x="0" y="895588"/>
                  </a:cubicBezTo>
                  <a:lnTo>
                    <a:pt x="0" y="27677"/>
                  </a:lnTo>
                  <a:cubicBezTo>
                    <a:pt x="0" y="20336"/>
                    <a:pt x="2916" y="13297"/>
                    <a:pt x="8106" y="8106"/>
                  </a:cubicBezTo>
                  <a:cubicBezTo>
                    <a:pt x="13297" y="2916"/>
                    <a:pt x="20336" y="0"/>
                    <a:pt x="2767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1111">
                    <a:alpha val="100000"/>
                  </a:srgbClr>
                </a:gs>
                <a:gs pos="100000">
                  <a:srgbClr val="111111">
                    <a:alpha val="30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2136505" cy="9518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-1307904" y="1902123"/>
            <a:ext cx="8020522" cy="8380520"/>
            <a:chOff x="0" y="0"/>
            <a:chExt cx="2112401" cy="220721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12401" cy="2207215"/>
            </a:xfrm>
            <a:custGeom>
              <a:avLst/>
              <a:gdLst/>
              <a:ahLst/>
              <a:cxnLst/>
              <a:rect r="r" b="b" t="t" l="l"/>
              <a:pathLst>
                <a:path h="2207215" w="2112401">
                  <a:moveTo>
                    <a:pt x="27993" y="0"/>
                  </a:moveTo>
                  <a:lnTo>
                    <a:pt x="2084408" y="0"/>
                  </a:lnTo>
                  <a:cubicBezTo>
                    <a:pt x="2099868" y="0"/>
                    <a:pt x="2112401" y="12533"/>
                    <a:pt x="2112401" y="27993"/>
                  </a:cubicBezTo>
                  <a:lnTo>
                    <a:pt x="2112401" y="2179223"/>
                  </a:lnTo>
                  <a:cubicBezTo>
                    <a:pt x="2112401" y="2194683"/>
                    <a:pt x="2099868" y="2207215"/>
                    <a:pt x="2084408" y="2207215"/>
                  </a:cubicBezTo>
                  <a:lnTo>
                    <a:pt x="27993" y="2207215"/>
                  </a:lnTo>
                  <a:cubicBezTo>
                    <a:pt x="12533" y="2207215"/>
                    <a:pt x="0" y="2194683"/>
                    <a:pt x="0" y="2179223"/>
                  </a:cubicBezTo>
                  <a:lnTo>
                    <a:pt x="0" y="27993"/>
                  </a:lnTo>
                  <a:cubicBezTo>
                    <a:pt x="0" y="12533"/>
                    <a:pt x="12533" y="0"/>
                    <a:pt x="2799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1111">
                    <a:alpha val="100000"/>
                  </a:srgbClr>
                </a:gs>
                <a:gs pos="100000">
                  <a:srgbClr val="111111">
                    <a:alpha val="30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2112401" cy="22357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8061634" y="6622419"/>
            <a:ext cx="7524931" cy="1144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HỆ LUỴ</a:t>
            </a:r>
            <a:r>
              <a:rPr lang="en-US" sz="220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: Th</a:t>
            </a:r>
            <a:r>
              <a:rPr lang="en-US" sz="220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iếu một đánh giá đồng bộ khiến kết luận về hiệu năng của LLM trong sinh test trở nên rời rạc, thiếu cơ sở so sánh công bằng.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42119" y="2946912"/>
            <a:ext cx="4007985" cy="115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i="true" spc="-116">
                <a:solidFill>
                  <a:srgbClr val="E6DFE3"/>
                </a:solidFill>
                <a:latin typeface="Open Sauce Light Italics"/>
                <a:ea typeface="Open Sauce Light Italics"/>
                <a:cs typeface="Open Sauce Light Italics"/>
                <a:sym typeface="Open Sauce Light Italics"/>
              </a:rPr>
              <a:t>Mut</a:t>
            </a:r>
            <a:r>
              <a:rPr lang="en-US" sz="2199" i="true" spc="-116">
                <a:solidFill>
                  <a:srgbClr val="E6DFE3"/>
                </a:solidFill>
                <a:latin typeface="Open Sauce Light Italics"/>
                <a:ea typeface="Open Sauce Light Italics"/>
                <a:cs typeface="Open Sauce Light Italics"/>
                <a:sym typeface="Open Sauce Light Italics"/>
              </a:rPr>
              <a:t>ation testing làm thước đo đánh giá cốt lõi</a:t>
            </a:r>
          </a:p>
          <a:p>
            <a:pPr algn="l">
              <a:lnSpc>
                <a:spcPts val="3079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842119" y="5624535"/>
            <a:ext cx="3594210" cy="1243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i="true" spc="-127">
                <a:solidFill>
                  <a:srgbClr val="E6DFE3"/>
                </a:solidFill>
                <a:latin typeface="Open Sauce Light Italics"/>
                <a:ea typeface="Open Sauce Light Italics"/>
                <a:cs typeface="Open Sauce Light Italics"/>
                <a:sym typeface="Open Sauce Light Italics"/>
              </a:rPr>
              <a:t>Tập </a:t>
            </a:r>
            <a:r>
              <a:rPr lang="en-US" sz="2399" i="true" spc="-127">
                <a:solidFill>
                  <a:srgbClr val="E6DFE3"/>
                </a:solidFill>
                <a:latin typeface="Open Sauce Light Italics"/>
                <a:ea typeface="Open Sauce Light Italics"/>
                <a:cs typeface="Open Sauce Light Italics"/>
                <a:sym typeface="Open Sauce Light Italics"/>
              </a:rPr>
              <a:t>dữ liệu từ các dự án Java thực tế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842119" y="2291852"/>
            <a:ext cx="6231225" cy="99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5"/>
              </a:lnSpc>
            </a:pPr>
            <a:r>
              <a:rPr lang="en-US" sz="3012" spc="-19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PRIMARY</a:t>
            </a:r>
            <a:r>
              <a:rPr lang="en-US" sz="3012" spc="-19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MUTATION</a:t>
            </a:r>
          </a:p>
          <a:p>
            <a:pPr algn="l" marL="0" indent="0" lvl="0">
              <a:lnSpc>
                <a:spcPts val="3975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842119" y="4462657"/>
            <a:ext cx="3298316" cy="1497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5"/>
              </a:lnSpc>
            </a:pPr>
            <a:r>
              <a:rPr lang="en-US" sz="3012" spc="-19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REAL-WORLD</a:t>
            </a:r>
            <a:r>
              <a:rPr lang="en-US" sz="3012" spc="-19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</a:p>
          <a:p>
            <a:pPr algn="l">
              <a:lnSpc>
                <a:spcPts val="3975"/>
              </a:lnSpc>
            </a:pPr>
            <a:r>
              <a:rPr lang="en-US" sz="3012" spc="-19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JAVA</a:t>
            </a:r>
          </a:p>
          <a:p>
            <a:pPr algn="l" marL="0" indent="0" lvl="0">
              <a:lnSpc>
                <a:spcPts val="3975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842119" y="8142087"/>
            <a:ext cx="3298316" cy="148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099" i="true" spc="-111">
                <a:solidFill>
                  <a:srgbClr val="E6DFE3"/>
                </a:solidFill>
                <a:latin typeface="Open Sauce Light Italics"/>
                <a:ea typeface="Open Sauce Light Italics"/>
                <a:cs typeface="Open Sauce Light Italics"/>
                <a:sym typeface="Open Sauce Light Italics"/>
              </a:rPr>
              <a:t>Sử dụng công cụ tạo test tự động tiêu chuẩn làm hệ quy chiếu so sánh</a:t>
            </a:r>
          </a:p>
          <a:p>
            <a:pPr algn="l">
              <a:lnSpc>
                <a:spcPts val="2939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842119" y="6981463"/>
            <a:ext cx="3298316" cy="1497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5"/>
              </a:lnSpc>
            </a:pPr>
            <a:r>
              <a:rPr lang="en-US" sz="3012" spc="-19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EVOSUITE</a:t>
            </a:r>
            <a:r>
              <a:rPr lang="en-US" sz="3012" spc="-19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BASELINE</a:t>
            </a:r>
          </a:p>
          <a:p>
            <a:pPr algn="l" marL="0" indent="0" lvl="0">
              <a:lnSpc>
                <a:spcPts val="3975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8045169" y="5095875"/>
            <a:ext cx="8139598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 spc="-180">
                <a:solidFill>
                  <a:srgbClr val="FF31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Chưa có công trình nào hội tụ đủ cả ba yếu tố trên cùng một thiết kế thí nghiệm.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061634" y="8100415"/>
            <a:ext cx="7360745" cy="1534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b="true" sz="2200" spc="-165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ĐÓNG GÓP CỦA NHÓM: Lần đầu tiên khóa điểm giao thoa (Intersection) này bằng thiết kế thí nghiệm trên 30 class từ 10 dự án Java thực tế (CLASSES2TEST), so sánh GPT-4o-mini với EvoSuite lấy Mutation Score làm thước đo chính.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28700" y="1037924"/>
            <a:ext cx="3821405" cy="363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spc="-165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Trần Bích Trâm - SE190313  ( PL 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17794" y="-3123899"/>
            <a:ext cx="8140412" cy="8229600"/>
          </a:xfrm>
          <a:custGeom>
            <a:avLst/>
            <a:gdLst/>
            <a:ahLst/>
            <a:cxnLst/>
            <a:rect r="r" b="b" t="t" l="l"/>
            <a:pathLst>
              <a:path h="8229600" w="8140412">
                <a:moveTo>
                  <a:pt x="0" y="0"/>
                </a:moveTo>
                <a:lnTo>
                  <a:pt x="8140412" y="0"/>
                </a:lnTo>
                <a:lnTo>
                  <a:pt x="81404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102904" y="3607626"/>
            <a:ext cx="8140412" cy="8229600"/>
          </a:xfrm>
          <a:custGeom>
            <a:avLst/>
            <a:gdLst/>
            <a:ahLst/>
            <a:cxnLst/>
            <a:rect r="r" b="b" t="t" l="l"/>
            <a:pathLst>
              <a:path h="8229600" w="8140412">
                <a:moveTo>
                  <a:pt x="0" y="0"/>
                </a:moveTo>
                <a:lnTo>
                  <a:pt x="8140412" y="0"/>
                </a:lnTo>
                <a:lnTo>
                  <a:pt x="81404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43146" y="-726853"/>
            <a:ext cx="8140412" cy="8229600"/>
          </a:xfrm>
          <a:custGeom>
            <a:avLst/>
            <a:gdLst/>
            <a:ahLst/>
            <a:cxnLst/>
            <a:rect r="r" b="b" t="t" l="l"/>
            <a:pathLst>
              <a:path h="8229600" w="8140412">
                <a:moveTo>
                  <a:pt x="0" y="0"/>
                </a:moveTo>
                <a:lnTo>
                  <a:pt x="8140412" y="0"/>
                </a:lnTo>
                <a:lnTo>
                  <a:pt x="81404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041506" y="7315309"/>
            <a:ext cx="8140412" cy="8229600"/>
          </a:xfrm>
          <a:custGeom>
            <a:avLst/>
            <a:gdLst/>
            <a:ahLst/>
            <a:cxnLst/>
            <a:rect r="r" b="b" t="t" l="l"/>
            <a:pathLst>
              <a:path h="8229600" w="8140412">
                <a:moveTo>
                  <a:pt x="0" y="0"/>
                </a:moveTo>
                <a:lnTo>
                  <a:pt x="8140412" y="0"/>
                </a:lnTo>
                <a:lnTo>
                  <a:pt x="81404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 flipH="true">
            <a:off x="1323510" y="79955"/>
            <a:ext cx="2733802" cy="10202689"/>
          </a:xfrm>
          <a:prstGeom prst="line">
            <a:avLst/>
          </a:prstGeom>
          <a:ln cap="flat" w="9525">
            <a:gradFill>
              <a:gsLst>
                <a:gs pos="0">
                  <a:srgbClr val="00E5ED">
                    <a:alpha val="100000"/>
                  </a:srgbClr>
                </a:gs>
                <a:gs pos="33333">
                  <a:srgbClr val="00E5ED">
                    <a:alpha val="0"/>
                  </a:srgbClr>
                </a:gs>
                <a:gs pos="66667">
                  <a:srgbClr val="00E5ED">
                    <a:alpha val="0"/>
                  </a:srgbClr>
                </a:gs>
                <a:gs pos="100000">
                  <a:srgbClr val="00E5E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9140744" y="67804"/>
            <a:ext cx="0" cy="10226990"/>
          </a:xfrm>
          <a:prstGeom prst="line">
            <a:avLst/>
          </a:prstGeom>
          <a:ln cap="flat" w="9525">
            <a:gradFill>
              <a:gsLst>
                <a:gs pos="0">
                  <a:srgbClr val="00E5ED">
                    <a:alpha val="100000"/>
                  </a:srgbClr>
                </a:gs>
                <a:gs pos="33333">
                  <a:srgbClr val="00E5ED">
                    <a:alpha val="0"/>
                  </a:srgbClr>
                </a:gs>
                <a:gs pos="66667">
                  <a:srgbClr val="00E5ED">
                    <a:alpha val="0"/>
                  </a:srgbClr>
                </a:gs>
                <a:gs pos="100000">
                  <a:srgbClr val="00E5E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4224177" y="67804"/>
            <a:ext cx="2740314" cy="10226990"/>
          </a:xfrm>
          <a:prstGeom prst="line">
            <a:avLst/>
          </a:prstGeom>
          <a:ln cap="flat" w="9525">
            <a:gradFill>
              <a:gsLst>
                <a:gs pos="0">
                  <a:srgbClr val="00E5ED">
                    <a:alpha val="100000"/>
                  </a:srgbClr>
                </a:gs>
                <a:gs pos="33333">
                  <a:srgbClr val="00E5ED">
                    <a:alpha val="0"/>
                  </a:srgbClr>
                </a:gs>
                <a:gs pos="66667">
                  <a:srgbClr val="00E5ED">
                    <a:alpha val="0"/>
                  </a:srgbClr>
                </a:gs>
                <a:gs pos="100000">
                  <a:srgbClr val="00E5E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028700" y="4949035"/>
            <a:ext cx="6148399" cy="6078702"/>
            <a:chOff x="0" y="0"/>
            <a:chExt cx="1619331" cy="16009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19331" cy="1600975"/>
            </a:xfrm>
            <a:custGeom>
              <a:avLst/>
              <a:gdLst/>
              <a:ahLst/>
              <a:cxnLst/>
              <a:rect r="r" b="b" t="t" l="l"/>
              <a:pathLst>
                <a:path h="1600975" w="1619331">
                  <a:moveTo>
                    <a:pt x="36516" y="0"/>
                  </a:moveTo>
                  <a:lnTo>
                    <a:pt x="1582815" y="0"/>
                  </a:lnTo>
                  <a:cubicBezTo>
                    <a:pt x="1602983" y="0"/>
                    <a:pt x="1619331" y="16349"/>
                    <a:pt x="1619331" y="36516"/>
                  </a:cubicBezTo>
                  <a:lnTo>
                    <a:pt x="1619331" y="1564459"/>
                  </a:lnTo>
                  <a:cubicBezTo>
                    <a:pt x="1619331" y="1574144"/>
                    <a:pt x="1615484" y="1583432"/>
                    <a:pt x="1608636" y="1590280"/>
                  </a:cubicBezTo>
                  <a:cubicBezTo>
                    <a:pt x="1601788" y="1597128"/>
                    <a:pt x="1592500" y="1600975"/>
                    <a:pt x="1582815" y="1600975"/>
                  </a:cubicBezTo>
                  <a:lnTo>
                    <a:pt x="36516" y="1600975"/>
                  </a:lnTo>
                  <a:cubicBezTo>
                    <a:pt x="26831" y="1600975"/>
                    <a:pt x="17543" y="1597128"/>
                    <a:pt x="10695" y="1590280"/>
                  </a:cubicBezTo>
                  <a:cubicBezTo>
                    <a:pt x="3847" y="1583432"/>
                    <a:pt x="0" y="1574144"/>
                    <a:pt x="0" y="1564459"/>
                  </a:cubicBezTo>
                  <a:lnTo>
                    <a:pt x="0" y="36516"/>
                  </a:lnTo>
                  <a:cubicBezTo>
                    <a:pt x="0" y="26831"/>
                    <a:pt x="3847" y="17543"/>
                    <a:pt x="10695" y="10695"/>
                  </a:cubicBezTo>
                  <a:cubicBezTo>
                    <a:pt x="17543" y="3847"/>
                    <a:pt x="26831" y="0"/>
                    <a:pt x="365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1111">
                    <a:alpha val="100000"/>
                  </a:srgbClr>
                </a:gs>
                <a:gs pos="100000">
                  <a:srgbClr val="111111">
                    <a:alpha val="30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619331" cy="1629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069395" y="5105701"/>
            <a:ext cx="8334353" cy="4874883"/>
            <a:chOff x="0" y="0"/>
            <a:chExt cx="2195056" cy="1283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5056" cy="1283920"/>
            </a:xfrm>
            <a:custGeom>
              <a:avLst/>
              <a:gdLst/>
              <a:ahLst/>
              <a:cxnLst/>
              <a:rect r="r" b="b" t="t" l="l"/>
              <a:pathLst>
                <a:path h="1283920" w="2195056">
                  <a:moveTo>
                    <a:pt x="26939" y="0"/>
                  </a:moveTo>
                  <a:lnTo>
                    <a:pt x="2168117" y="0"/>
                  </a:lnTo>
                  <a:cubicBezTo>
                    <a:pt x="2182995" y="0"/>
                    <a:pt x="2195056" y="12061"/>
                    <a:pt x="2195056" y="26939"/>
                  </a:cubicBezTo>
                  <a:lnTo>
                    <a:pt x="2195056" y="1256981"/>
                  </a:lnTo>
                  <a:cubicBezTo>
                    <a:pt x="2195056" y="1271859"/>
                    <a:pt x="2182995" y="1283920"/>
                    <a:pt x="2168117" y="1283920"/>
                  </a:cubicBezTo>
                  <a:lnTo>
                    <a:pt x="26939" y="1283920"/>
                  </a:lnTo>
                  <a:cubicBezTo>
                    <a:pt x="12061" y="1283920"/>
                    <a:pt x="0" y="1271859"/>
                    <a:pt x="0" y="1256981"/>
                  </a:cubicBezTo>
                  <a:lnTo>
                    <a:pt x="0" y="26939"/>
                  </a:lnTo>
                  <a:cubicBezTo>
                    <a:pt x="0" y="12061"/>
                    <a:pt x="12061" y="0"/>
                    <a:pt x="2693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1111">
                    <a:alpha val="100000"/>
                  </a:srgbClr>
                </a:gs>
                <a:gs pos="100000">
                  <a:srgbClr val="111111">
                    <a:alpha val="30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2195056" cy="13124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600534" y="-1236482"/>
            <a:ext cx="5819708" cy="6010418"/>
            <a:chOff x="0" y="0"/>
            <a:chExt cx="1532763" cy="158299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32763" cy="1582991"/>
            </a:xfrm>
            <a:custGeom>
              <a:avLst/>
              <a:gdLst/>
              <a:ahLst/>
              <a:cxnLst/>
              <a:rect r="r" b="b" t="t" l="l"/>
              <a:pathLst>
                <a:path h="1582991" w="1532763">
                  <a:moveTo>
                    <a:pt x="38579" y="0"/>
                  </a:moveTo>
                  <a:lnTo>
                    <a:pt x="1494184" y="0"/>
                  </a:lnTo>
                  <a:cubicBezTo>
                    <a:pt x="1515490" y="0"/>
                    <a:pt x="1532763" y="17272"/>
                    <a:pt x="1532763" y="38579"/>
                  </a:cubicBezTo>
                  <a:lnTo>
                    <a:pt x="1532763" y="1544412"/>
                  </a:lnTo>
                  <a:cubicBezTo>
                    <a:pt x="1532763" y="1565719"/>
                    <a:pt x="1515490" y="1582991"/>
                    <a:pt x="1494184" y="1582991"/>
                  </a:cubicBezTo>
                  <a:lnTo>
                    <a:pt x="38579" y="1582991"/>
                  </a:lnTo>
                  <a:cubicBezTo>
                    <a:pt x="17272" y="1582991"/>
                    <a:pt x="0" y="1565719"/>
                    <a:pt x="0" y="1544412"/>
                  </a:cubicBezTo>
                  <a:lnTo>
                    <a:pt x="0" y="38579"/>
                  </a:lnTo>
                  <a:cubicBezTo>
                    <a:pt x="0" y="17272"/>
                    <a:pt x="17272" y="0"/>
                    <a:pt x="3857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1111">
                    <a:alpha val="100000"/>
                  </a:srgbClr>
                </a:gs>
                <a:gs pos="100000">
                  <a:srgbClr val="111111">
                    <a:alpha val="30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532763" cy="161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818240" y="-1691615"/>
            <a:ext cx="5819708" cy="6185517"/>
            <a:chOff x="0" y="0"/>
            <a:chExt cx="1532763" cy="162910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32763" cy="1629107"/>
            </a:xfrm>
            <a:custGeom>
              <a:avLst/>
              <a:gdLst/>
              <a:ahLst/>
              <a:cxnLst/>
              <a:rect r="r" b="b" t="t" l="l"/>
              <a:pathLst>
                <a:path h="1629107" w="1532763">
                  <a:moveTo>
                    <a:pt x="38579" y="0"/>
                  </a:moveTo>
                  <a:lnTo>
                    <a:pt x="1494184" y="0"/>
                  </a:lnTo>
                  <a:cubicBezTo>
                    <a:pt x="1515490" y="0"/>
                    <a:pt x="1532763" y="17272"/>
                    <a:pt x="1532763" y="38579"/>
                  </a:cubicBezTo>
                  <a:lnTo>
                    <a:pt x="1532763" y="1590529"/>
                  </a:lnTo>
                  <a:cubicBezTo>
                    <a:pt x="1532763" y="1611835"/>
                    <a:pt x="1515490" y="1629107"/>
                    <a:pt x="1494184" y="1629107"/>
                  </a:cubicBezTo>
                  <a:lnTo>
                    <a:pt x="38579" y="1629107"/>
                  </a:lnTo>
                  <a:cubicBezTo>
                    <a:pt x="17272" y="1629107"/>
                    <a:pt x="0" y="1611835"/>
                    <a:pt x="0" y="1590529"/>
                  </a:cubicBezTo>
                  <a:lnTo>
                    <a:pt x="0" y="38579"/>
                  </a:lnTo>
                  <a:cubicBezTo>
                    <a:pt x="0" y="17272"/>
                    <a:pt x="17272" y="0"/>
                    <a:pt x="3857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1111">
                    <a:alpha val="100000"/>
                  </a:srgbClr>
                </a:gs>
                <a:gs pos="100000">
                  <a:srgbClr val="111111">
                    <a:alpha val="30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1532763" cy="16576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28700" y="2562500"/>
            <a:ext cx="11789540" cy="2772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20"/>
              </a:lnSpc>
            </a:pPr>
            <a:r>
              <a:rPr lang="en-US" b="true" sz="8000" spc="-44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RESEARCH QUES</a:t>
            </a:r>
            <a:r>
              <a:rPr lang="en-US" b="true" sz="8000" spc="-44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TIONS</a:t>
            </a:r>
          </a:p>
          <a:p>
            <a:pPr algn="l">
              <a:lnSpc>
                <a:spcPts val="7120"/>
              </a:lnSpc>
            </a:pPr>
            <a:r>
              <a:rPr lang="en-US" b="true" sz="8000" spc="-44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(RQ1 &amp; RQ2 )</a:t>
            </a:r>
          </a:p>
          <a:p>
            <a:pPr algn="l">
              <a:lnSpc>
                <a:spcPts val="7120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1037924"/>
            <a:ext cx="4070206" cy="363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spc="-165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Trần Minh Quý - SE196687  ( DG 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11473" y="6151020"/>
            <a:ext cx="5291677" cy="3487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GPT-4</a:t>
            </a:r>
            <a:r>
              <a:rPr lang="en-US" b="true" sz="22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o-mini zero-shot</a:t>
            </a:r>
            <a:r>
              <a:rPr lang="en-US" sz="220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có đạt </a:t>
            </a:r>
            <a:r>
              <a:rPr lang="en-US" b="true" sz="22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median mutation score ≥ 44.5%</a:t>
            </a:r>
            <a:r>
              <a:rPr lang="en-US" sz="220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không?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b="true" sz="22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Thước đo:</a:t>
            </a:r>
            <a:r>
              <a:rPr lang="en-US" sz="220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Mutation Score (PIT)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b="true" sz="22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Ngưỡng chốt:</a:t>
            </a:r>
            <a:r>
              <a:rPr lang="en-US" sz="220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44.5% (tính từ Pilot Study)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b="true" sz="22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Phương pháp:</a:t>
            </a:r>
            <a:r>
              <a:rPr lang="en-US" sz="220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Kiểm định Wilcoxon one-sample so với ngưỡng 44.5% (p &lt; 0.05)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434263" y="6108383"/>
            <a:ext cx="7604617" cy="3487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GPT-4</a:t>
            </a:r>
            <a:r>
              <a:rPr lang="en-US" b="true" sz="22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o-mini zero-shot</a:t>
            </a:r>
            <a:r>
              <a:rPr lang="en-US" sz="220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có đạt </a:t>
            </a:r>
            <a:r>
              <a:rPr lang="en-US" b="true" sz="22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median branch coverage</a:t>
            </a:r>
            <a:r>
              <a:rPr lang="en-US" sz="220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</a:t>
            </a:r>
            <a:r>
              <a:rPr lang="en-US" b="true" sz="22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≥ 41.9%</a:t>
            </a:r>
            <a:r>
              <a:rPr lang="en-US" sz="220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không?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b="true" sz="22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Thước đo:</a:t>
            </a:r>
            <a:r>
              <a:rPr lang="en-US" sz="220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Branch Coverage (JaCoCo)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b="true" sz="22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Ngưỡng chốt: </a:t>
            </a:r>
            <a:r>
              <a:rPr lang="en-US" sz="220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41.9% (tính từ Pilot Study)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b="true" sz="22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Phương pháp:</a:t>
            </a:r>
            <a:r>
              <a:rPr lang="en-US" sz="220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Kiểm định Wilcoxon one-sample so với ngưỡng 41.9% (p &lt; 0.05)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11473" y="5445195"/>
            <a:ext cx="5765626" cy="383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8"/>
              </a:lnSpc>
            </a:pPr>
            <a:r>
              <a:rPr lang="en-US" b="true" sz="3200" spc="-17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RQ1 -</a:t>
            </a:r>
            <a:r>
              <a:rPr lang="en-US" b="true" sz="3200" spc="-17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MUTATION QUALITY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452168" y="5591873"/>
            <a:ext cx="6762530" cy="383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8"/>
              </a:lnSpc>
            </a:pPr>
            <a:r>
              <a:rPr lang="en-US" b="true" sz="3200" spc="-17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RQ2</a:t>
            </a:r>
            <a:r>
              <a:rPr lang="en-US" b="true" sz="3200" spc="-17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- COVERAGE FLOOR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34397" y="562960"/>
            <a:ext cx="10806203" cy="3908109"/>
          </a:xfrm>
          <a:custGeom>
            <a:avLst/>
            <a:gdLst/>
            <a:ahLst/>
            <a:cxnLst/>
            <a:rect r="r" b="b" t="t" l="l"/>
            <a:pathLst>
              <a:path h="3908109" w="10806203">
                <a:moveTo>
                  <a:pt x="0" y="0"/>
                </a:moveTo>
                <a:lnTo>
                  <a:pt x="10806203" y="0"/>
                </a:lnTo>
                <a:lnTo>
                  <a:pt x="10806203" y="3908109"/>
                </a:lnTo>
                <a:lnTo>
                  <a:pt x="0" y="39081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1139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17794" y="-3123899"/>
            <a:ext cx="8140412" cy="8229600"/>
          </a:xfrm>
          <a:custGeom>
            <a:avLst/>
            <a:gdLst/>
            <a:ahLst/>
            <a:cxnLst/>
            <a:rect r="r" b="b" t="t" l="l"/>
            <a:pathLst>
              <a:path h="8229600" w="8140412">
                <a:moveTo>
                  <a:pt x="0" y="0"/>
                </a:moveTo>
                <a:lnTo>
                  <a:pt x="8140412" y="0"/>
                </a:lnTo>
                <a:lnTo>
                  <a:pt x="81404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102904" y="3607626"/>
            <a:ext cx="8140412" cy="8229600"/>
          </a:xfrm>
          <a:custGeom>
            <a:avLst/>
            <a:gdLst/>
            <a:ahLst/>
            <a:cxnLst/>
            <a:rect r="r" b="b" t="t" l="l"/>
            <a:pathLst>
              <a:path h="8229600" w="8140412">
                <a:moveTo>
                  <a:pt x="0" y="0"/>
                </a:moveTo>
                <a:lnTo>
                  <a:pt x="8140412" y="0"/>
                </a:lnTo>
                <a:lnTo>
                  <a:pt x="81404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43146" y="-726853"/>
            <a:ext cx="8140412" cy="8229600"/>
          </a:xfrm>
          <a:custGeom>
            <a:avLst/>
            <a:gdLst/>
            <a:ahLst/>
            <a:cxnLst/>
            <a:rect r="r" b="b" t="t" l="l"/>
            <a:pathLst>
              <a:path h="8229600" w="8140412">
                <a:moveTo>
                  <a:pt x="0" y="0"/>
                </a:moveTo>
                <a:lnTo>
                  <a:pt x="8140412" y="0"/>
                </a:lnTo>
                <a:lnTo>
                  <a:pt x="81404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041506" y="7315309"/>
            <a:ext cx="8140412" cy="8229600"/>
          </a:xfrm>
          <a:custGeom>
            <a:avLst/>
            <a:gdLst/>
            <a:ahLst/>
            <a:cxnLst/>
            <a:rect r="r" b="b" t="t" l="l"/>
            <a:pathLst>
              <a:path h="8229600" w="8140412">
                <a:moveTo>
                  <a:pt x="0" y="0"/>
                </a:moveTo>
                <a:lnTo>
                  <a:pt x="8140412" y="0"/>
                </a:lnTo>
                <a:lnTo>
                  <a:pt x="81404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 flipH="true">
            <a:off x="1323510" y="79955"/>
            <a:ext cx="2733802" cy="10202689"/>
          </a:xfrm>
          <a:prstGeom prst="line">
            <a:avLst/>
          </a:prstGeom>
          <a:ln cap="flat" w="9525">
            <a:gradFill>
              <a:gsLst>
                <a:gs pos="0">
                  <a:srgbClr val="00E5ED">
                    <a:alpha val="100000"/>
                  </a:srgbClr>
                </a:gs>
                <a:gs pos="33333">
                  <a:srgbClr val="00E5ED">
                    <a:alpha val="0"/>
                  </a:srgbClr>
                </a:gs>
                <a:gs pos="66667">
                  <a:srgbClr val="00E5ED">
                    <a:alpha val="0"/>
                  </a:srgbClr>
                </a:gs>
                <a:gs pos="100000">
                  <a:srgbClr val="00E5E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9140744" y="67804"/>
            <a:ext cx="0" cy="10226990"/>
          </a:xfrm>
          <a:prstGeom prst="line">
            <a:avLst/>
          </a:prstGeom>
          <a:ln cap="flat" w="9525">
            <a:gradFill>
              <a:gsLst>
                <a:gs pos="0">
                  <a:srgbClr val="00E5ED">
                    <a:alpha val="100000"/>
                  </a:srgbClr>
                </a:gs>
                <a:gs pos="33333">
                  <a:srgbClr val="00E5ED">
                    <a:alpha val="0"/>
                  </a:srgbClr>
                </a:gs>
                <a:gs pos="66667">
                  <a:srgbClr val="00E5ED">
                    <a:alpha val="0"/>
                  </a:srgbClr>
                </a:gs>
                <a:gs pos="100000">
                  <a:srgbClr val="00E5E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4224177" y="67804"/>
            <a:ext cx="2740314" cy="10226990"/>
          </a:xfrm>
          <a:prstGeom prst="line">
            <a:avLst/>
          </a:prstGeom>
          <a:ln cap="flat" w="9525">
            <a:gradFill>
              <a:gsLst>
                <a:gs pos="0">
                  <a:srgbClr val="00E5ED">
                    <a:alpha val="100000"/>
                  </a:srgbClr>
                </a:gs>
                <a:gs pos="33333">
                  <a:srgbClr val="00E5ED">
                    <a:alpha val="0"/>
                  </a:srgbClr>
                </a:gs>
                <a:gs pos="66667">
                  <a:srgbClr val="00E5ED">
                    <a:alpha val="0"/>
                  </a:srgbClr>
                </a:gs>
                <a:gs pos="100000">
                  <a:srgbClr val="00E5E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028700" y="4949035"/>
            <a:ext cx="6148399" cy="6078702"/>
            <a:chOff x="0" y="0"/>
            <a:chExt cx="1619331" cy="16009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19331" cy="1600975"/>
            </a:xfrm>
            <a:custGeom>
              <a:avLst/>
              <a:gdLst/>
              <a:ahLst/>
              <a:cxnLst/>
              <a:rect r="r" b="b" t="t" l="l"/>
              <a:pathLst>
                <a:path h="1600975" w="1619331">
                  <a:moveTo>
                    <a:pt x="36516" y="0"/>
                  </a:moveTo>
                  <a:lnTo>
                    <a:pt x="1582815" y="0"/>
                  </a:lnTo>
                  <a:cubicBezTo>
                    <a:pt x="1602983" y="0"/>
                    <a:pt x="1619331" y="16349"/>
                    <a:pt x="1619331" y="36516"/>
                  </a:cubicBezTo>
                  <a:lnTo>
                    <a:pt x="1619331" y="1564459"/>
                  </a:lnTo>
                  <a:cubicBezTo>
                    <a:pt x="1619331" y="1574144"/>
                    <a:pt x="1615484" y="1583432"/>
                    <a:pt x="1608636" y="1590280"/>
                  </a:cubicBezTo>
                  <a:cubicBezTo>
                    <a:pt x="1601788" y="1597128"/>
                    <a:pt x="1592500" y="1600975"/>
                    <a:pt x="1582815" y="1600975"/>
                  </a:cubicBezTo>
                  <a:lnTo>
                    <a:pt x="36516" y="1600975"/>
                  </a:lnTo>
                  <a:cubicBezTo>
                    <a:pt x="26831" y="1600975"/>
                    <a:pt x="17543" y="1597128"/>
                    <a:pt x="10695" y="1590280"/>
                  </a:cubicBezTo>
                  <a:cubicBezTo>
                    <a:pt x="3847" y="1583432"/>
                    <a:pt x="0" y="1574144"/>
                    <a:pt x="0" y="1564459"/>
                  </a:cubicBezTo>
                  <a:lnTo>
                    <a:pt x="0" y="36516"/>
                  </a:lnTo>
                  <a:cubicBezTo>
                    <a:pt x="0" y="26831"/>
                    <a:pt x="3847" y="17543"/>
                    <a:pt x="10695" y="10695"/>
                  </a:cubicBezTo>
                  <a:cubicBezTo>
                    <a:pt x="17543" y="3847"/>
                    <a:pt x="26831" y="0"/>
                    <a:pt x="365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1111">
                    <a:alpha val="100000"/>
                  </a:srgbClr>
                </a:gs>
                <a:gs pos="100000">
                  <a:srgbClr val="111111">
                    <a:alpha val="30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619331" cy="1629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069395" y="4949035"/>
            <a:ext cx="9189905" cy="4900224"/>
            <a:chOff x="0" y="0"/>
            <a:chExt cx="2420386" cy="129059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20387" cy="1290594"/>
            </a:xfrm>
            <a:custGeom>
              <a:avLst/>
              <a:gdLst/>
              <a:ahLst/>
              <a:cxnLst/>
              <a:rect r="r" b="b" t="t" l="l"/>
              <a:pathLst>
                <a:path h="1290594" w="2420387">
                  <a:moveTo>
                    <a:pt x="24431" y="0"/>
                  </a:moveTo>
                  <a:lnTo>
                    <a:pt x="2395956" y="0"/>
                  </a:lnTo>
                  <a:cubicBezTo>
                    <a:pt x="2409449" y="0"/>
                    <a:pt x="2420387" y="10938"/>
                    <a:pt x="2420387" y="24431"/>
                  </a:cubicBezTo>
                  <a:lnTo>
                    <a:pt x="2420387" y="1266163"/>
                  </a:lnTo>
                  <a:cubicBezTo>
                    <a:pt x="2420387" y="1279656"/>
                    <a:pt x="2409449" y="1290594"/>
                    <a:pt x="2395956" y="1290594"/>
                  </a:cubicBezTo>
                  <a:lnTo>
                    <a:pt x="24431" y="1290594"/>
                  </a:lnTo>
                  <a:cubicBezTo>
                    <a:pt x="10938" y="1290594"/>
                    <a:pt x="0" y="1279656"/>
                    <a:pt x="0" y="1266163"/>
                  </a:cubicBezTo>
                  <a:lnTo>
                    <a:pt x="0" y="24431"/>
                  </a:lnTo>
                  <a:cubicBezTo>
                    <a:pt x="0" y="10938"/>
                    <a:pt x="10938" y="0"/>
                    <a:pt x="2443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1111">
                    <a:alpha val="100000"/>
                  </a:srgbClr>
                </a:gs>
                <a:gs pos="100000">
                  <a:srgbClr val="111111">
                    <a:alpha val="30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2420386" cy="1319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600534" y="-1236482"/>
            <a:ext cx="5819708" cy="6010418"/>
            <a:chOff x="0" y="0"/>
            <a:chExt cx="1532763" cy="158299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32763" cy="1582991"/>
            </a:xfrm>
            <a:custGeom>
              <a:avLst/>
              <a:gdLst/>
              <a:ahLst/>
              <a:cxnLst/>
              <a:rect r="r" b="b" t="t" l="l"/>
              <a:pathLst>
                <a:path h="1582991" w="1532763">
                  <a:moveTo>
                    <a:pt x="38579" y="0"/>
                  </a:moveTo>
                  <a:lnTo>
                    <a:pt x="1494184" y="0"/>
                  </a:lnTo>
                  <a:cubicBezTo>
                    <a:pt x="1515490" y="0"/>
                    <a:pt x="1532763" y="17272"/>
                    <a:pt x="1532763" y="38579"/>
                  </a:cubicBezTo>
                  <a:lnTo>
                    <a:pt x="1532763" y="1544412"/>
                  </a:lnTo>
                  <a:cubicBezTo>
                    <a:pt x="1532763" y="1565719"/>
                    <a:pt x="1515490" y="1582991"/>
                    <a:pt x="1494184" y="1582991"/>
                  </a:cubicBezTo>
                  <a:lnTo>
                    <a:pt x="38579" y="1582991"/>
                  </a:lnTo>
                  <a:cubicBezTo>
                    <a:pt x="17272" y="1582991"/>
                    <a:pt x="0" y="1565719"/>
                    <a:pt x="0" y="1544412"/>
                  </a:cubicBezTo>
                  <a:lnTo>
                    <a:pt x="0" y="38579"/>
                  </a:lnTo>
                  <a:cubicBezTo>
                    <a:pt x="0" y="17272"/>
                    <a:pt x="17272" y="0"/>
                    <a:pt x="3857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1111">
                    <a:alpha val="100000"/>
                  </a:srgbClr>
                </a:gs>
                <a:gs pos="100000">
                  <a:srgbClr val="111111">
                    <a:alpha val="30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532763" cy="161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818240" y="-1691615"/>
            <a:ext cx="5819708" cy="6185517"/>
            <a:chOff x="0" y="0"/>
            <a:chExt cx="1532763" cy="162910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32763" cy="1629107"/>
            </a:xfrm>
            <a:custGeom>
              <a:avLst/>
              <a:gdLst/>
              <a:ahLst/>
              <a:cxnLst/>
              <a:rect r="r" b="b" t="t" l="l"/>
              <a:pathLst>
                <a:path h="1629107" w="1532763">
                  <a:moveTo>
                    <a:pt x="38579" y="0"/>
                  </a:moveTo>
                  <a:lnTo>
                    <a:pt x="1494184" y="0"/>
                  </a:lnTo>
                  <a:cubicBezTo>
                    <a:pt x="1515490" y="0"/>
                    <a:pt x="1532763" y="17272"/>
                    <a:pt x="1532763" y="38579"/>
                  </a:cubicBezTo>
                  <a:lnTo>
                    <a:pt x="1532763" y="1590529"/>
                  </a:lnTo>
                  <a:cubicBezTo>
                    <a:pt x="1532763" y="1611835"/>
                    <a:pt x="1515490" y="1629107"/>
                    <a:pt x="1494184" y="1629107"/>
                  </a:cubicBezTo>
                  <a:lnTo>
                    <a:pt x="38579" y="1629107"/>
                  </a:lnTo>
                  <a:cubicBezTo>
                    <a:pt x="17272" y="1629107"/>
                    <a:pt x="0" y="1611835"/>
                    <a:pt x="0" y="1590529"/>
                  </a:cubicBezTo>
                  <a:lnTo>
                    <a:pt x="0" y="38579"/>
                  </a:lnTo>
                  <a:cubicBezTo>
                    <a:pt x="0" y="17272"/>
                    <a:pt x="17272" y="0"/>
                    <a:pt x="3857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1111">
                    <a:alpha val="100000"/>
                  </a:srgbClr>
                </a:gs>
                <a:gs pos="100000">
                  <a:srgbClr val="111111">
                    <a:alpha val="30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1532763" cy="16576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28700" y="2562500"/>
            <a:ext cx="11789540" cy="2772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20"/>
              </a:lnSpc>
            </a:pPr>
            <a:r>
              <a:rPr lang="en-US" b="true" sz="8000" spc="-44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RESEARCH QUES</a:t>
            </a:r>
            <a:r>
              <a:rPr lang="en-US" b="true" sz="8000" spc="-44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TIONS</a:t>
            </a:r>
          </a:p>
          <a:p>
            <a:pPr algn="l">
              <a:lnSpc>
                <a:spcPts val="7120"/>
              </a:lnSpc>
            </a:pPr>
            <a:r>
              <a:rPr lang="en-US" b="true" sz="8000" spc="-44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(RQ3 &amp; RQ4 )</a:t>
            </a:r>
          </a:p>
          <a:p>
            <a:pPr algn="l">
              <a:lnSpc>
                <a:spcPts val="7120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411473" y="6151020"/>
            <a:ext cx="5291677" cy="3877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GPT-4</a:t>
            </a:r>
            <a:r>
              <a:rPr lang="en-US" b="true" sz="22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o-mini zero-shot</a:t>
            </a:r>
            <a:r>
              <a:rPr lang="en-US" sz="220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có đạt tỷ lệ </a:t>
            </a:r>
            <a:r>
              <a:rPr lang="en-US" b="true" sz="22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Build Success ≥ 28.6%</a:t>
            </a:r>
            <a:r>
              <a:rPr lang="en-US" sz="220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không?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b="true" sz="22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Thước đo:</a:t>
            </a:r>
            <a:r>
              <a:rPr lang="en-US" sz="220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Build Success Rate (Maven Surefire)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b="true" sz="22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Ngưỡng chốt: </a:t>
            </a:r>
            <a:r>
              <a:rPr lang="en-US" sz="220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28.6% (từ Pilot Study)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b="true" sz="22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Phương pháp:</a:t>
            </a:r>
            <a:r>
              <a:rPr lang="en-US" sz="220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Kiểm định Binomial one-sample so với ngưỡng 28.6% (p &lt; 0.05)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434263" y="6013345"/>
            <a:ext cx="8530227" cy="3487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</a:t>
            </a:r>
            <a:r>
              <a:rPr lang="en-US" b="true" sz="22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utation score </a:t>
            </a:r>
            <a:r>
              <a:rPr lang="en-US" sz="220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của </a:t>
            </a:r>
            <a:r>
              <a:rPr lang="en-US" b="true" sz="22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GPT-4o-mini </a:t>
            </a:r>
            <a:r>
              <a:rPr lang="en-US" sz="220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có cạnh tranh được với </a:t>
            </a:r>
            <a:r>
              <a:rPr lang="en-US" b="true" sz="22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EvoSuite (Baseline)</a:t>
            </a:r>
            <a:r>
              <a:rPr lang="en-US" sz="220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không?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b="true" sz="22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Thước đo:</a:t>
            </a:r>
            <a:r>
              <a:rPr lang="en-US" sz="220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Mutation Score (PIT)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b="true" sz="22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Baseline:</a:t>
            </a:r>
            <a:r>
              <a:rPr lang="en-US" sz="220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EvoSuite (chạy đúng 60 giây/class trên cùng 30 class)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b="true" sz="22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Phương pháp: </a:t>
            </a:r>
            <a:r>
              <a:rPr lang="en-US" sz="220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Kiểm định Wilcoxon Signed-Rank (so sánh cặp 2 mẫu phụ thuộc, p &lt; 0.05)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11473" y="5445195"/>
            <a:ext cx="5765626" cy="383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8"/>
              </a:lnSpc>
            </a:pPr>
            <a:r>
              <a:rPr lang="en-US" b="true" sz="3200" spc="-17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RQ3 - PRACTICAL USABILITY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434263" y="5544461"/>
            <a:ext cx="6762530" cy="383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8"/>
              </a:lnSpc>
            </a:pPr>
            <a:r>
              <a:rPr lang="en-US" b="true" sz="3200" spc="-17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RQ4 -</a:t>
            </a:r>
            <a:r>
              <a:rPr lang="en-US" b="true" sz="3200" spc="-17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COMPARATIVE BASELINE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8700" y="1037924"/>
            <a:ext cx="4070206" cy="363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spc="-165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Trần Minh Quý - SE196687  ( DG 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17794" y="-3123899"/>
            <a:ext cx="8140412" cy="8229600"/>
          </a:xfrm>
          <a:custGeom>
            <a:avLst/>
            <a:gdLst/>
            <a:ahLst/>
            <a:cxnLst/>
            <a:rect r="r" b="b" t="t" l="l"/>
            <a:pathLst>
              <a:path h="8229600" w="8140412">
                <a:moveTo>
                  <a:pt x="0" y="0"/>
                </a:moveTo>
                <a:lnTo>
                  <a:pt x="8140412" y="0"/>
                </a:lnTo>
                <a:lnTo>
                  <a:pt x="81404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102904" y="3607626"/>
            <a:ext cx="8140412" cy="8229600"/>
          </a:xfrm>
          <a:custGeom>
            <a:avLst/>
            <a:gdLst/>
            <a:ahLst/>
            <a:cxnLst/>
            <a:rect r="r" b="b" t="t" l="l"/>
            <a:pathLst>
              <a:path h="8229600" w="8140412">
                <a:moveTo>
                  <a:pt x="0" y="0"/>
                </a:moveTo>
                <a:lnTo>
                  <a:pt x="8140412" y="0"/>
                </a:lnTo>
                <a:lnTo>
                  <a:pt x="81404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056785" y="-52151"/>
            <a:ext cx="8140412" cy="8229600"/>
          </a:xfrm>
          <a:custGeom>
            <a:avLst/>
            <a:gdLst/>
            <a:ahLst/>
            <a:cxnLst/>
            <a:rect r="r" b="b" t="t" l="l"/>
            <a:pathLst>
              <a:path h="8229600" w="8140412">
                <a:moveTo>
                  <a:pt x="0" y="0"/>
                </a:moveTo>
                <a:lnTo>
                  <a:pt x="8140412" y="0"/>
                </a:lnTo>
                <a:lnTo>
                  <a:pt x="81404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041506" y="7315309"/>
            <a:ext cx="8140412" cy="8229600"/>
          </a:xfrm>
          <a:custGeom>
            <a:avLst/>
            <a:gdLst/>
            <a:ahLst/>
            <a:cxnLst/>
            <a:rect r="r" b="b" t="t" l="l"/>
            <a:pathLst>
              <a:path h="8229600" w="8140412">
                <a:moveTo>
                  <a:pt x="0" y="0"/>
                </a:moveTo>
                <a:lnTo>
                  <a:pt x="8140412" y="0"/>
                </a:lnTo>
                <a:lnTo>
                  <a:pt x="81404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 flipH="true">
            <a:off x="1323510" y="79955"/>
            <a:ext cx="2733802" cy="10202689"/>
          </a:xfrm>
          <a:prstGeom prst="line">
            <a:avLst/>
          </a:prstGeom>
          <a:ln cap="flat" w="9525">
            <a:gradFill>
              <a:gsLst>
                <a:gs pos="0">
                  <a:srgbClr val="00E5ED">
                    <a:alpha val="100000"/>
                  </a:srgbClr>
                </a:gs>
                <a:gs pos="33333">
                  <a:srgbClr val="00E5ED">
                    <a:alpha val="0"/>
                  </a:srgbClr>
                </a:gs>
                <a:gs pos="66667">
                  <a:srgbClr val="00E5ED">
                    <a:alpha val="0"/>
                  </a:srgbClr>
                </a:gs>
                <a:gs pos="100000">
                  <a:srgbClr val="00E5E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9140744" y="67804"/>
            <a:ext cx="0" cy="10226990"/>
          </a:xfrm>
          <a:prstGeom prst="line">
            <a:avLst/>
          </a:prstGeom>
          <a:ln cap="flat" w="9525">
            <a:gradFill>
              <a:gsLst>
                <a:gs pos="0">
                  <a:srgbClr val="00E5ED">
                    <a:alpha val="100000"/>
                  </a:srgbClr>
                </a:gs>
                <a:gs pos="33333">
                  <a:srgbClr val="00E5ED">
                    <a:alpha val="0"/>
                  </a:srgbClr>
                </a:gs>
                <a:gs pos="66667">
                  <a:srgbClr val="00E5ED">
                    <a:alpha val="0"/>
                  </a:srgbClr>
                </a:gs>
                <a:gs pos="100000">
                  <a:srgbClr val="00E5E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4224177" y="67804"/>
            <a:ext cx="2740314" cy="10226990"/>
          </a:xfrm>
          <a:prstGeom prst="line">
            <a:avLst/>
          </a:prstGeom>
          <a:ln cap="flat" w="9525">
            <a:gradFill>
              <a:gsLst>
                <a:gs pos="0">
                  <a:srgbClr val="00E5ED">
                    <a:alpha val="100000"/>
                  </a:srgbClr>
                </a:gs>
                <a:gs pos="33333">
                  <a:srgbClr val="00E5ED">
                    <a:alpha val="0"/>
                  </a:srgbClr>
                </a:gs>
                <a:gs pos="66667">
                  <a:srgbClr val="00E5ED">
                    <a:alpha val="0"/>
                  </a:srgbClr>
                </a:gs>
                <a:gs pos="100000">
                  <a:srgbClr val="00E5E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816572" y="3607626"/>
            <a:ext cx="3844609" cy="5975933"/>
            <a:chOff x="0" y="0"/>
            <a:chExt cx="1012572" cy="157390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12572" cy="1573908"/>
            </a:xfrm>
            <a:custGeom>
              <a:avLst/>
              <a:gdLst/>
              <a:ahLst/>
              <a:cxnLst/>
              <a:rect r="r" b="b" t="t" l="l"/>
              <a:pathLst>
                <a:path h="1573908" w="1012572">
                  <a:moveTo>
                    <a:pt x="58398" y="0"/>
                  </a:moveTo>
                  <a:lnTo>
                    <a:pt x="954175" y="0"/>
                  </a:lnTo>
                  <a:cubicBezTo>
                    <a:pt x="986427" y="0"/>
                    <a:pt x="1012572" y="26145"/>
                    <a:pt x="1012572" y="58398"/>
                  </a:cubicBezTo>
                  <a:lnTo>
                    <a:pt x="1012572" y="1515511"/>
                  </a:lnTo>
                  <a:cubicBezTo>
                    <a:pt x="1012572" y="1547763"/>
                    <a:pt x="986427" y="1573908"/>
                    <a:pt x="954175" y="1573908"/>
                  </a:cubicBezTo>
                  <a:lnTo>
                    <a:pt x="58398" y="1573908"/>
                  </a:lnTo>
                  <a:cubicBezTo>
                    <a:pt x="42910" y="1573908"/>
                    <a:pt x="28056" y="1567756"/>
                    <a:pt x="17104" y="1556804"/>
                  </a:cubicBezTo>
                  <a:cubicBezTo>
                    <a:pt x="6153" y="1545852"/>
                    <a:pt x="0" y="1530999"/>
                    <a:pt x="0" y="1515511"/>
                  </a:cubicBezTo>
                  <a:lnTo>
                    <a:pt x="0" y="58398"/>
                  </a:lnTo>
                  <a:cubicBezTo>
                    <a:pt x="0" y="42910"/>
                    <a:pt x="6153" y="28056"/>
                    <a:pt x="17104" y="17104"/>
                  </a:cubicBezTo>
                  <a:cubicBezTo>
                    <a:pt x="28056" y="6153"/>
                    <a:pt x="42910" y="0"/>
                    <a:pt x="5839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1111">
                    <a:alpha val="100000"/>
                  </a:srgbClr>
                </a:gs>
                <a:gs pos="100000">
                  <a:srgbClr val="111111">
                    <a:alpha val="30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012572" cy="1602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452635" y="4217803"/>
            <a:ext cx="4238582" cy="6266191"/>
            <a:chOff x="0" y="0"/>
            <a:chExt cx="1116334" cy="165035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16334" cy="1650355"/>
            </a:xfrm>
            <a:custGeom>
              <a:avLst/>
              <a:gdLst/>
              <a:ahLst/>
              <a:cxnLst/>
              <a:rect r="r" b="b" t="t" l="l"/>
              <a:pathLst>
                <a:path h="1650355" w="1116334">
                  <a:moveTo>
                    <a:pt x="52970" y="0"/>
                  </a:moveTo>
                  <a:lnTo>
                    <a:pt x="1063365" y="0"/>
                  </a:lnTo>
                  <a:cubicBezTo>
                    <a:pt x="1077413" y="0"/>
                    <a:pt x="1090886" y="5581"/>
                    <a:pt x="1100820" y="15514"/>
                  </a:cubicBezTo>
                  <a:cubicBezTo>
                    <a:pt x="1110754" y="25448"/>
                    <a:pt x="1116334" y="38921"/>
                    <a:pt x="1116334" y="52970"/>
                  </a:cubicBezTo>
                  <a:lnTo>
                    <a:pt x="1116334" y="1597385"/>
                  </a:lnTo>
                  <a:cubicBezTo>
                    <a:pt x="1116334" y="1626639"/>
                    <a:pt x="1092619" y="1650355"/>
                    <a:pt x="1063365" y="1650355"/>
                  </a:cubicBezTo>
                  <a:lnTo>
                    <a:pt x="52970" y="1650355"/>
                  </a:lnTo>
                  <a:cubicBezTo>
                    <a:pt x="38921" y="1650355"/>
                    <a:pt x="25448" y="1644774"/>
                    <a:pt x="15514" y="1634840"/>
                  </a:cubicBezTo>
                  <a:cubicBezTo>
                    <a:pt x="5581" y="1624907"/>
                    <a:pt x="0" y="1611434"/>
                    <a:pt x="0" y="1597385"/>
                  </a:cubicBezTo>
                  <a:lnTo>
                    <a:pt x="0" y="52970"/>
                  </a:lnTo>
                  <a:cubicBezTo>
                    <a:pt x="0" y="23715"/>
                    <a:pt x="23715" y="0"/>
                    <a:pt x="5297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1111">
                    <a:alpha val="100000"/>
                  </a:srgbClr>
                </a:gs>
                <a:gs pos="100000">
                  <a:srgbClr val="111111">
                    <a:alpha val="30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116334" cy="16789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60350" y="3607626"/>
            <a:ext cx="3844609" cy="5975933"/>
            <a:chOff x="0" y="0"/>
            <a:chExt cx="1012572" cy="157390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12572" cy="1573908"/>
            </a:xfrm>
            <a:custGeom>
              <a:avLst/>
              <a:gdLst/>
              <a:ahLst/>
              <a:cxnLst/>
              <a:rect r="r" b="b" t="t" l="l"/>
              <a:pathLst>
                <a:path h="1573908" w="1012572">
                  <a:moveTo>
                    <a:pt x="58398" y="0"/>
                  </a:moveTo>
                  <a:lnTo>
                    <a:pt x="954175" y="0"/>
                  </a:lnTo>
                  <a:cubicBezTo>
                    <a:pt x="986427" y="0"/>
                    <a:pt x="1012572" y="26145"/>
                    <a:pt x="1012572" y="58398"/>
                  </a:cubicBezTo>
                  <a:lnTo>
                    <a:pt x="1012572" y="1515511"/>
                  </a:lnTo>
                  <a:cubicBezTo>
                    <a:pt x="1012572" y="1547763"/>
                    <a:pt x="986427" y="1573908"/>
                    <a:pt x="954175" y="1573908"/>
                  </a:cubicBezTo>
                  <a:lnTo>
                    <a:pt x="58398" y="1573908"/>
                  </a:lnTo>
                  <a:cubicBezTo>
                    <a:pt x="42910" y="1573908"/>
                    <a:pt x="28056" y="1567756"/>
                    <a:pt x="17104" y="1556804"/>
                  </a:cubicBezTo>
                  <a:cubicBezTo>
                    <a:pt x="6153" y="1545852"/>
                    <a:pt x="0" y="1530999"/>
                    <a:pt x="0" y="1515511"/>
                  </a:cubicBezTo>
                  <a:lnTo>
                    <a:pt x="0" y="58398"/>
                  </a:lnTo>
                  <a:cubicBezTo>
                    <a:pt x="0" y="42910"/>
                    <a:pt x="6153" y="28056"/>
                    <a:pt x="17104" y="17104"/>
                  </a:cubicBezTo>
                  <a:cubicBezTo>
                    <a:pt x="28056" y="6153"/>
                    <a:pt x="42910" y="0"/>
                    <a:pt x="5839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1111">
                    <a:alpha val="100000"/>
                  </a:srgbClr>
                </a:gs>
                <a:gs pos="100000">
                  <a:srgbClr val="111111">
                    <a:alpha val="30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012572" cy="1602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28700" y="2340742"/>
            <a:ext cx="14208811" cy="1877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20"/>
              </a:lnSpc>
            </a:pPr>
            <a:r>
              <a:rPr lang="en-US" b="true" sz="8000" spc="-44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HYPOTHESES &amp; THRESHO</a:t>
            </a:r>
            <a:r>
              <a:rPr lang="en-US" b="true" sz="8000" spc="-44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LDS</a:t>
            </a:r>
          </a:p>
          <a:p>
            <a:pPr algn="l">
              <a:lnSpc>
                <a:spcPts val="7120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1037924"/>
            <a:ext cx="4094456" cy="363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spc="-165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Lê Trần Anh Khoa - SE192585  ( LR ) 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70443" y="5105400"/>
            <a:ext cx="3377980" cy="3580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b="true" sz="2300" i="true" spc="-121">
                <a:solidFill>
                  <a:srgbClr val="E6DFE3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Metric: </a:t>
            </a:r>
            <a:r>
              <a:rPr lang="en-US" sz="2300" i="true" spc="-121">
                <a:solidFill>
                  <a:srgbClr val="E6DFE3"/>
                </a:solidFill>
                <a:latin typeface="Open Sauce Light Italics"/>
                <a:ea typeface="Open Sauce Light Italics"/>
                <a:cs typeface="Open Sauce Light Italics"/>
                <a:sym typeface="Open Sauce Light Italics"/>
              </a:rPr>
              <a:t>Mutation (PIT)</a:t>
            </a:r>
          </a:p>
          <a:p>
            <a:pPr algn="l">
              <a:lnSpc>
                <a:spcPts val="3220"/>
              </a:lnSpc>
            </a:pPr>
            <a:r>
              <a:rPr lang="en-US" b="true" sz="2300" i="true" spc="-121">
                <a:solidFill>
                  <a:srgbClr val="E6DFE3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Threshold:</a:t>
            </a:r>
            <a:r>
              <a:rPr lang="en-US" sz="2300" i="true" spc="-121">
                <a:solidFill>
                  <a:srgbClr val="E6DFE3"/>
                </a:solidFill>
                <a:latin typeface="Open Sauce Light Italics"/>
                <a:ea typeface="Open Sauce Light Italics"/>
                <a:cs typeface="Open Sauce Light Italics"/>
                <a:sym typeface="Open Sauce Light Italics"/>
              </a:rPr>
              <a:t> ≥ 44.5%</a:t>
            </a:r>
          </a:p>
          <a:p>
            <a:pPr algn="l">
              <a:lnSpc>
                <a:spcPts val="3220"/>
              </a:lnSpc>
            </a:pPr>
            <a:r>
              <a:rPr lang="en-US" b="true" sz="2300" i="true" spc="-121">
                <a:solidFill>
                  <a:srgbClr val="E6DFE3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Source:</a:t>
            </a:r>
            <a:r>
              <a:rPr lang="en-US" sz="2300" i="true" spc="-121">
                <a:solidFill>
                  <a:srgbClr val="E6DFE3"/>
                </a:solidFill>
                <a:latin typeface="Open Sauce Light Italics"/>
                <a:ea typeface="Open Sauce Light Italics"/>
                <a:cs typeface="Open Sauce Light Italics"/>
                <a:sym typeface="Open Sauce Light Italics"/>
              </a:rPr>
              <a:t> Table IV, ID 9</a:t>
            </a:r>
          </a:p>
          <a:p>
            <a:pPr algn="l">
              <a:lnSpc>
                <a:spcPts val="3220"/>
              </a:lnSpc>
            </a:pPr>
          </a:p>
          <a:p>
            <a:pPr algn="l">
              <a:lnSpc>
                <a:spcPts val="3220"/>
              </a:lnSpc>
            </a:pPr>
            <a:r>
              <a:rPr lang="en-US" b="true" sz="2300" i="true" spc="-121">
                <a:solidFill>
                  <a:srgbClr val="E6DFE3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H₀:</a:t>
            </a:r>
            <a:r>
              <a:rPr lang="en-US" sz="2300" i="true" spc="-121">
                <a:solidFill>
                  <a:srgbClr val="E6DFE3"/>
                </a:solidFill>
                <a:latin typeface="Open Sauce Light Italics"/>
                <a:ea typeface="Open Sauce Light Italics"/>
                <a:cs typeface="Open Sauce Light Italics"/>
                <a:sym typeface="Open Sauce Light Italics"/>
              </a:rPr>
              <a:t> GPT &lt; 44.5%</a:t>
            </a:r>
          </a:p>
          <a:p>
            <a:pPr algn="l">
              <a:lnSpc>
                <a:spcPts val="3220"/>
              </a:lnSpc>
            </a:pPr>
          </a:p>
          <a:p>
            <a:pPr algn="l">
              <a:lnSpc>
                <a:spcPts val="3220"/>
              </a:lnSpc>
            </a:pPr>
            <a:r>
              <a:rPr lang="en-US" b="true" sz="2300" i="true" spc="-121">
                <a:solidFill>
                  <a:srgbClr val="E6DFE3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H₁:</a:t>
            </a:r>
            <a:r>
              <a:rPr lang="en-US" sz="2300" i="true" spc="-121">
                <a:solidFill>
                  <a:srgbClr val="E6DFE3"/>
                </a:solidFill>
                <a:latin typeface="Open Sauce Light Italics"/>
                <a:ea typeface="Open Sauce Light Italics"/>
                <a:cs typeface="Open Sauce Light Italics"/>
                <a:sym typeface="Open Sauce Light Italics"/>
              </a:rPr>
              <a:t> GPT ≥ 44.5%</a:t>
            </a:r>
          </a:p>
          <a:p>
            <a:pPr algn="l">
              <a:lnSpc>
                <a:spcPts val="3220"/>
              </a:lnSpc>
            </a:pPr>
          </a:p>
          <a:p>
            <a:pPr algn="l">
              <a:lnSpc>
                <a:spcPts val="3220"/>
              </a:lnSpc>
            </a:pPr>
            <a:r>
              <a:rPr lang="en-US" b="true" sz="2300" i="true" spc="-121">
                <a:solidFill>
                  <a:srgbClr val="E6DFE3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Test: </a:t>
            </a:r>
            <a:r>
              <a:rPr lang="en-US" sz="2300" i="true" spc="-121">
                <a:solidFill>
                  <a:srgbClr val="E6DFE3"/>
                </a:solidFill>
                <a:latin typeface="Open Sauce Light Italics"/>
                <a:ea typeface="Open Sauce Light Italics"/>
                <a:cs typeface="Open Sauce Light Italics"/>
                <a:sym typeface="Open Sauce Light Italics"/>
              </a:rPr>
              <a:t>Wilcoxon (α=0.05)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59489" y="3979754"/>
            <a:ext cx="3137219" cy="99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75"/>
              </a:lnSpc>
            </a:pPr>
            <a:r>
              <a:rPr lang="en-US" b="true" sz="3012" spc="-192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RQ1 - MUTATION QUALITY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393665" y="3979754"/>
            <a:ext cx="3377980" cy="99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75"/>
              </a:lnSpc>
            </a:pPr>
            <a:r>
              <a:rPr lang="en-US" b="true" sz="3012" spc="-192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RQ3 - PRACTICAL USABILITY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662185" y="4461627"/>
            <a:ext cx="3831014" cy="992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75"/>
              </a:lnSpc>
            </a:pPr>
            <a:r>
              <a:rPr lang="en-US" b="true" sz="3012" spc="-192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RQ4 - COMPARATIVE BASELINE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-3205526" y="9786137"/>
            <a:ext cx="8140412" cy="8229600"/>
          </a:xfrm>
          <a:custGeom>
            <a:avLst/>
            <a:gdLst/>
            <a:ahLst/>
            <a:cxnLst/>
            <a:rect r="r" b="b" t="t" l="l"/>
            <a:pathLst>
              <a:path h="8229600" w="8140412">
                <a:moveTo>
                  <a:pt x="0" y="0"/>
                </a:moveTo>
                <a:lnTo>
                  <a:pt x="8140412" y="0"/>
                </a:lnTo>
                <a:lnTo>
                  <a:pt x="81404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25" id="25"/>
          <p:cNvSpPr/>
          <p:nvPr/>
        </p:nvSpPr>
        <p:spPr>
          <a:xfrm flipH="true">
            <a:off x="1159489" y="2550783"/>
            <a:ext cx="2733802" cy="10202689"/>
          </a:xfrm>
          <a:prstGeom prst="line">
            <a:avLst/>
          </a:prstGeom>
          <a:ln cap="flat" w="9525">
            <a:gradFill>
              <a:gsLst>
                <a:gs pos="0">
                  <a:srgbClr val="00E5ED">
                    <a:alpha val="100000"/>
                  </a:srgbClr>
                </a:gs>
                <a:gs pos="33333">
                  <a:srgbClr val="00E5ED">
                    <a:alpha val="0"/>
                  </a:srgbClr>
                </a:gs>
                <a:gs pos="66667">
                  <a:srgbClr val="00E5ED">
                    <a:alpha val="0"/>
                  </a:srgbClr>
                </a:gs>
                <a:gs pos="100000">
                  <a:srgbClr val="00E5E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4919897" y="4217803"/>
            <a:ext cx="3844609" cy="6216284"/>
            <a:chOff x="0" y="0"/>
            <a:chExt cx="1012572" cy="163721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12572" cy="1637211"/>
            </a:xfrm>
            <a:custGeom>
              <a:avLst/>
              <a:gdLst/>
              <a:ahLst/>
              <a:cxnLst/>
              <a:rect r="r" b="b" t="t" l="l"/>
              <a:pathLst>
                <a:path h="1637211" w="1012572">
                  <a:moveTo>
                    <a:pt x="58398" y="0"/>
                  </a:moveTo>
                  <a:lnTo>
                    <a:pt x="954175" y="0"/>
                  </a:lnTo>
                  <a:cubicBezTo>
                    <a:pt x="986427" y="0"/>
                    <a:pt x="1012572" y="26145"/>
                    <a:pt x="1012572" y="58398"/>
                  </a:cubicBezTo>
                  <a:lnTo>
                    <a:pt x="1012572" y="1578813"/>
                  </a:lnTo>
                  <a:cubicBezTo>
                    <a:pt x="1012572" y="1594301"/>
                    <a:pt x="1006419" y="1609155"/>
                    <a:pt x="995468" y="1620106"/>
                  </a:cubicBezTo>
                  <a:cubicBezTo>
                    <a:pt x="984516" y="1631058"/>
                    <a:pt x="969663" y="1637211"/>
                    <a:pt x="954175" y="1637211"/>
                  </a:cubicBezTo>
                  <a:lnTo>
                    <a:pt x="58398" y="1637211"/>
                  </a:lnTo>
                  <a:cubicBezTo>
                    <a:pt x="26145" y="1637211"/>
                    <a:pt x="0" y="1611065"/>
                    <a:pt x="0" y="1578813"/>
                  </a:cubicBezTo>
                  <a:lnTo>
                    <a:pt x="0" y="58398"/>
                  </a:lnTo>
                  <a:cubicBezTo>
                    <a:pt x="0" y="42910"/>
                    <a:pt x="6153" y="28056"/>
                    <a:pt x="17104" y="17104"/>
                  </a:cubicBezTo>
                  <a:cubicBezTo>
                    <a:pt x="28056" y="6153"/>
                    <a:pt x="42910" y="0"/>
                    <a:pt x="5839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1111">
                    <a:alpha val="100000"/>
                  </a:srgbClr>
                </a:gs>
                <a:gs pos="100000">
                  <a:srgbClr val="111111">
                    <a:alpha val="30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1012572" cy="1665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5186502" y="5913311"/>
            <a:ext cx="3377980" cy="3580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b="true" sz="2300" i="true" spc="-121">
                <a:solidFill>
                  <a:srgbClr val="E6DFE3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Metric: </a:t>
            </a:r>
            <a:r>
              <a:rPr lang="en-US" sz="2300" i="true" spc="-121">
                <a:solidFill>
                  <a:srgbClr val="E6DFE3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Branch (JaCoCo)</a:t>
            </a:r>
          </a:p>
          <a:p>
            <a:pPr algn="l">
              <a:lnSpc>
                <a:spcPts val="3220"/>
              </a:lnSpc>
            </a:pPr>
            <a:r>
              <a:rPr lang="en-US" b="true" sz="2300" i="true" spc="-121">
                <a:solidFill>
                  <a:srgbClr val="E6DFE3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Threshold:</a:t>
            </a:r>
            <a:r>
              <a:rPr lang="en-US" sz="2300" i="true" spc="-121">
                <a:solidFill>
                  <a:srgbClr val="E6DFE3"/>
                </a:solidFill>
                <a:latin typeface="Open Sauce Light Italics"/>
                <a:ea typeface="Open Sauce Light Italics"/>
                <a:cs typeface="Open Sauce Light Italics"/>
                <a:sym typeface="Open Sauce Light Italics"/>
              </a:rPr>
              <a:t> ≥ 41.9%</a:t>
            </a:r>
          </a:p>
          <a:p>
            <a:pPr algn="l">
              <a:lnSpc>
                <a:spcPts val="3220"/>
              </a:lnSpc>
            </a:pPr>
            <a:r>
              <a:rPr lang="en-US" b="true" sz="2300" i="true" spc="-121">
                <a:solidFill>
                  <a:srgbClr val="E6DFE3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Source:</a:t>
            </a:r>
            <a:r>
              <a:rPr lang="en-US" sz="2300" i="true" spc="-121">
                <a:solidFill>
                  <a:srgbClr val="E6DFE3"/>
                </a:solidFill>
                <a:latin typeface="Open Sauce Light Italics"/>
                <a:ea typeface="Open Sauce Light Italics"/>
                <a:cs typeface="Open Sauce Light Italics"/>
                <a:sym typeface="Open Sauce Light Italics"/>
              </a:rPr>
              <a:t> Table IV, ID 9</a:t>
            </a:r>
          </a:p>
          <a:p>
            <a:pPr algn="l">
              <a:lnSpc>
                <a:spcPts val="3220"/>
              </a:lnSpc>
            </a:pPr>
          </a:p>
          <a:p>
            <a:pPr algn="l">
              <a:lnSpc>
                <a:spcPts val="3220"/>
              </a:lnSpc>
            </a:pPr>
            <a:r>
              <a:rPr lang="en-US" b="true" sz="2300" i="true" spc="-121">
                <a:solidFill>
                  <a:srgbClr val="E6DFE3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H₀:</a:t>
            </a:r>
            <a:r>
              <a:rPr lang="en-US" sz="2300" i="true" spc="-121">
                <a:solidFill>
                  <a:srgbClr val="E6DFE3"/>
                </a:solidFill>
                <a:latin typeface="Open Sauce Light Italics"/>
                <a:ea typeface="Open Sauce Light Italics"/>
                <a:cs typeface="Open Sauce Light Italics"/>
                <a:sym typeface="Open Sauce Light Italics"/>
              </a:rPr>
              <a:t> GPT &lt; 41.9%</a:t>
            </a:r>
          </a:p>
          <a:p>
            <a:pPr algn="l">
              <a:lnSpc>
                <a:spcPts val="3220"/>
              </a:lnSpc>
            </a:pPr>
          </a:p>
          <a:p>
            <a:pPr algn="l">
              <a:lnSpc>
                <a:spcPts val="3220"/>
              </a:lnSpc>
            </a:pPr>
            <a:r>
              <a:rPr lang="en-US" b="true" sz="2300" i="true" spc="-121">
                <a:solidFill>
                  <a:srgbClr val="E6DFE3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H₁:</a:t>
            </a:r>
            <a:r>
              <a:rPr lang="en-US" sz="2300" i="true" spc="-121">
                <a:solidFill>
                  <a:srgbClr val="E6DFE3"/>
                </a:solidFill>
                <a:latin typeface="Open Sauce Light Italics"/>
                <a:ea typeface="Open Sauce Light Italics"/>
                <a:cs typeface="Open Sauce Light Italics"/>
                <a:sym typeface="Open Sauce Light Italics"/>
              </a:rPr>
              <a:t> GPT ≥ 41.9%</a:t>
            </a:r>
          </a:p>
          <a:p>
            <a:pPr algn="l">
              <a:lnSpc>
                <a:spcPts val="3220"/>
              </a:lnSpc>
            </a:pPr>
          </a:p>
          <a:p>
            <a:pPr algn="l">
              <a:lnSpc>
                <a:spcPts val="3220"/>
              </a:lnSpc>
            </a:pPr>
            <a:r>
              <a:rPr lang="en-US" b="true" sz="2300" i="true" spc="-121">
                <a:solidFill>
                  <a:srgbClr val="E6DFE3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Test: </a:t>
            </a:r>
            <a:r>
              <a:rPr lang="en-US" sz="2300" i="true" spc="-121">
                <a:solidFill>
                  <a:srgbClr val="E6DFE3"/>
                </a:solidFill>
                <a:latin typeface="Open Sauce Light Italics"/>
                <a:ea typeface="Open Sauce Light Italics"/>
                <a:cs typeface="Open Sauce Light Italics"/>
                <a:sym typeface="Open Sauce Light Italics"/>
              </a:rPr>
              <a:t>Wilcoxon (α=0.05)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227238" y="4461627"/>
            <a:ext cx="3137219" cy="99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75"/>
              </a:lnSpc>
            </a:pPr>
            <a:r>
              <a:rPr lang="en-US" b="true" sz="3012" spc="-192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RQ2 - COVERAGE FLOOR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393665" y="5105400"/>
            <a:ext cx="3501368" cy="4379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b="true" sz="2300" i="true" spc="-121">
                <a:solidFill>
                  <a:srgbClr val="E6DFE3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Metric: </a:t>
            </a:r>
            <a:r>
              <a:rPr lang="en-US" sz="2300" i="true" spc="-121">
                <a:solidFill>
                  <a:srgbClr val="E6DFE3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Build Success (Surefire)</a:t>
            </a:r>
          </a:p>
          <a:p>
            <a:pPr algn="l">
              <a:lnSpc>
                <a:spcPts val="3220"/>
              </a:lnSpc>
            </a:pPr>
          </a:p>
          <a:p>
            <a:pPr algn="l">
              <a:lnSpc>
                <a:spcPts val="3220"/>
              </a:lnSpc>
            </a:pPr>
            <a:r>
              <a:rPr lang="en-US" b="true" sz="2300" i="true" spc="-121">
                <a:solidFill>
                  <a:srgbClr val="E6DFE3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Threshold:</a:t>
            </a:r>
            <a:r>
              <a:rPr lang="en-US" sz="2300" i="true" spc="-121">
                <a:solidFill>
                  <a:srgbClr val="E6DFE3"/>
                </a:solidFill>
                <a:latin typeface="Open Sauce Light Italics"/>
                <a:ea typeface="Open Sauce Light Italics"/>
                <a:cs typeface="Open Sauce Light Italics"/>
                <a:sym typeface="Open Sauce Light Italics"/>
              </a:rPr>
              <a:t> ≥ 28.6%</a:t>
            </a:r>
          </a:p>
          <a:p>
            <a:pPr algn="l">
              <a:lnSpc>
                <a:spcPts val="3220"/>
              </a:lnSpc>
            </a:pPr>
            <a:r>
              <a:rPr lang="en-US" b="true" sz="2300" i="true" spc="-121">
                <a:solidFill>
                  <a:srgbClr val="E6DFE3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Source:</a:t>
            </a:r>
            <a:r>
              <a:rPr lang="en-US" sz="2300" i="true" spc="-121">
                <a:solidFill>
                  <a:srgbClr val="E6DFE3"/>
                </a:solidFill>
                <a:latin typeface="Open Sauce Light Italics"/>
                <a:ea typeface="Open Sauce Light Italics"/>
                <a:cs typeface="Open Sauce Light Italics"/>
                <a:sym typeface="Open Sauce Light Italics"/>
              </a:rPr>
              <a:t> Table V, ID 9</a:t>
            </a:r>
          </a:p>
          <a:p>
            <a:pPr algn="l">
              <a:lnSpc>
                <a:spcPts val="3220"/>
              </a:lnSpc>
            </a:pPr>
          </a:p>
          <a:p>
            <a:pPr algn="l">
              <a:lnSpc>
                <a:spcPts val="3220"/>
              </a:lnSpc>
            </a:pPr>
            <a:r>
              <a:rPr lang="en-US" b="true" sz="2300" i="true" spc="-121">
                <a:solidFill>
                  <a:srgbClr val="E6DFE3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H₀:</a:t>
            </a:r>
            <a:r>
              <a:rPr lang="en-US" sz="2300" i="true" spc="-121">
                <a:solidFill>
                  <a:srgbClr val="E6DFE3"/>
                </a:solidFill>
                <a:latin typeface="Open Sauce Light Italics"/>
                <a:ea typeface="Open Sauce Light Italics"/>
                <a:cs typeface="Open Sauce Light Italics"/>
                <a:sym typeface="Open Sauce Light Italics"/>
              </a:rPr>
              <a:t> GPT &lt; 28.6%</a:t>
            </a:r>
          </a:p>
          <a:p>
            <a:pPr algn="l">
              <a:lnSpc>
                <a:spcPts val="3220"/>
              </a:lnSpc>
            </a:pPr>
          </a:p>
          <a:p>
            <a:pPr algn="l">
              <a:lnSpc>
                <a:spcPts val="3220"/>
              </a:lnSpc>
            </a:pPr>
            <a:r>
              <a:rPr lang="en-US" b="true" sz="2300" i="true" spc="-121">
                <a:solidFill>
                  <a:srgbClr val="E6DFE3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H₁:</a:t>
            </a:r>
            <a:r>
              <a:rPr lang="en-US" sz="2300" i="true" spc="-121">
                <a:solidFill>
                  <a:srgbClr val="E6DFE3"/>
                </a:solidFill>
                <a:latin typeface="Open Sauce Light Italics"/>
                <a:ea typeface="Open Sauce Light Italics"/>
                <a:cs typeface="Open Sauce Light Italics"/>
                <a:sym typeface="Open Sauce Light Italics"/>
              </a:rPr>
              <a:t> GPT ≥ 28.6%</a:t>
            </a:r>
          </a:p>
          <a:p>
            <a:pPr algn="l">
              <a:lnSpc>
                <a:spcPts val="3220"/>
              </a:lnSpc>
            </a:pPr>
          </a:p>
          <a:p>
            <a:pPr algn="l">
              <a:lnSpc>
                <a:spcPts val="3220"/>
              </a:lnSpc>
            </a:pPr>
            <a:r>
              <a:rPr lang="en-US" b="true" sz="2300" i="true" spc="-121">
                <a:solidFill>
                  <a:srgbClr val="E6DFE3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Test: </a:t>
            </a:r>
            <a:r>
              <a:rPr lang="en-US" sz="2300" i="true" spc="-121">
                <a:solidFill>
                  <a:srgbClr val="E6DFE3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Binomial (α=0.05)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662185" y="5655878"/>
            <a:ext cx="3788271" cy="4379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b="true" sz="2300" i="true" spc="-121">
                <a:solidFill>
                  <a:srgbClr val="E6DFE3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Metric: Mutation Score (PIT)</a:t>
            </a:r>
          </a:p>
          <a:p>
            <a:pPr algn="l">
              <a:lnSpc>
                <a:spcPts val="3220"/>
              </a:lnSpc>
            </a:pPr>
          </a:p>
          <a:p>
            <a:pPr algn="l">
              <a:lnSpc>
                <a:spcPts val="3220"/>
              </a:lnSpc>
            </a:pPr>
            <a:r>
              <a:rPr lang="en-US" b="true" sz="2300" i="true" spc="-121">
                <a:solidFill>
                  <a:srgbClr val="E6DFE3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Ma</a:t>
            </a:r>
            <a:r>
              <a:rPr lang="en-US" b="true" sz="2300" i="true" spc="-121">
                <a:solidFill>
                  <a:srgbClr val="E6DFE3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rgin: </a:t>
            </a:r>
            <a:r>
              <a:rPr lang="en-US" sz="2300" i="true" spc="-121">
                <a:solidFill>
                  <a:srgbClr val="E6DFE3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Delta &gt; –5 percentage points </a:t>
            </a:r>
          </a:p>
          <a:p>
            <a:pPr algn="l">
              <a:lnSpc>
                <a:spcPts val="3220"/>
              </a:lnSpc>
            </a:pPr>
          </a:p>
          <a:p>
            <a:pPr algn="l">
              <a:lnSpc>
                <a:spcPts val="3220"/>
              </a:lnSpc>
            </a:pPr>
            <a:r>
              <a:rPr lang="en-US" b="true" sz="2300" i="true" spc="-121">
                <a:solidFill>
                  <a:srgbClr val="E6DFE3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Source: Pilot Study, practical significance</a:t>
            </a:r>
          </a:p>
          <a:p>
            <a:pPr algn="l">
              <a:lnSpc>
                <a:spcPts val="3220"/>
              </a:lnSpc>
            </a:pPr>
            <a:r>
              <a:rPr lang="en-US" b="true" sz="2300" i="true" spc="-121">
                <a:solidFill>
                  <a:srgbClr val="E6DFE3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H₀: GPT ≤ EvoSuite – 5%</a:t>
            </a:r>
          </a:p>
          <a:p>
            <a:pPr algn="l">
              <a:lnSpc>
                <a:spcPts val="3220"/>
              </a:lnSpc>
            </a:pPr>
            <a:r>
              <a:rPr lang="en-US" b="true" sz="2300" i="true" spc="-121">
                <a:solidFill>
                  <a:srgbClr val="E6DFE3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H₁: GPT &gt; EvoSuite – 5%</a:t>
            </a:r>
          </a:p>
          <a:p>
            <a:pPr algn="l">
              <a:lnSpc>
                <a:spcPts val="3220"/>
              </a:lnSpc>
            </a:pPr>
            <a:r>
              <a:rPr lang="en-US" b="true" sz="2300" i="true" spc="-121">
                <a:solidFill>
                  <a:srgbClr val="E6DFE3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Test: Wilcoxon Signed-Rank (one-sided, α=0.05)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70194" y="-2971499"/>
            <a:ext cx="8140412" cy="8229600"/>
          </a:xfrm>
          <a:custGeom>
            <a:avLst/>
            <a:gdLst/>
            <a:ahLst/>
            <a:cxnLst/>
            <a:rect r="r" b="b" t="t" l="l"/>
            <a:pathLst>
              <a:path h="8229600" w="8140412">
                <a:moveTo>
                  <a:pt x="0" y="0"/>
                </a:moveTo>
                <a:lnTo>
                  <a:pt x="8140412" y="0"/>
                </a:lnTo>
                <a:lnTo>
                  <a:pt x="81404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950504" y="3760026"/>
            <a:ext cx="8140412" cy="8229600"/>
          </a:xfrm>
          <a:custGeom>
            <a:avLst/>
            <a:gdLst/>
            <a:ahLst/>
            <a:cxnLst/>
            <a:rect r="r" b="b" t="t" l="l"/>
            <a:pathLst>
              <a:path h="8229600" w="8140412">
                <a:moveTo>
                  <a:pt x="0" y="0"/>
                </a:moveTo>
                <a:lnTo>
                  <a:pt x="8140412" y="0"/>
                </a:lnTo>
                <a:lnTo>
                  <a:pt x="81404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09185" y="100249"/>
            <a:ext cx="8140412" cy="8229600"/>
          </a:xfrm>
          <a:custGeom>
            <a:avLst/>
            <a:gdLst/>
            <a:ahLst/>
            <a:cxnLst/>
            <a:rect r="r" b="b" t="t" l="l"/>
            <a:pathLst>
              <a:path h="8229600" w="8140412">
                <a:moveTo>
                  <a:pt x="0" y="0"/>
                </a:moveTo>
                <a:lnTo>
                  <a:pt x="8140412" y="0"/>
                </a:lnTo>
                <a:lnTo>
                  <a:pt x="81404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889106" y="7467709"/>
            <a:ext cx="8140412" cy="8229600"/>
          </a:xfrm>
          <a:custGeom>
            <a:avLst/>
            <a:gdLst/>
            <a:ahLst/>
            <a:cxnLst/>
            <a:rect r="r" b="b" t="t" l="l"/>
            <a:pathLst>
              <a:path h="8229600" w="8140412">
                <a:moveTo>
                  <a:pt x="0" y="0"/>
                </a:moveTo>
                <a:lnTo>
                  <a:pt x="8140412" y="0"/>
                </a:lnTo>
                <a:lnTo>
                  <a:pt x="81404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 flipH="true">
            <a:off x="1323510" y="79955"/>
            <a:ext cx="2733802" cy="10202689"/>
          </a:xfrm>
          <a:prstGeom prst="line">
            <a:avLst/>
          </a:prstGeom>
          <a:ln cap="flat" w="9525">
            <a:gradFill>
              <a:gsLst>
                <a:gs pos="0">
                  <a:srgbClr val="00E5ED">
                    <a:alpha val="100000"/>
                  </a:srgbClr>
                </a:gs>
                <a:gs pos="33333">
                  <a:srgbClr val="00E5ED">
                    <a:alpha val="0"/>
                  </a:srgbClr>
                </a:gs>
                <a:gs pos="66667">
                  <a:srgbClr val="00E5ED">
                    <a:alpha val="0"/>
                  </a:srgbClr>
                </a:gs>
                <a:gs pos="100000">
                  <a:srgbClr val="00E5E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9140744" y="67804"/>
            <a:ext cx="0" cy="10226990"/>
          </a:xfrm>
          <a:prstGeom prst="line">
            <a:avLst/>
          </a:prstGeom>
          <a:ln cap="flat" w="9525">
            <a:gradFill>
              <a:gsLst>
                <a:gs pos="0">
                  <a:srgbClr val="00E5ED">
                    <a:alpha val="100000"/>
                  </a:srgbClr>
                </a:gs>
                <a:gs pos="33333">
                  <a:srgbClr val="00E5ED">
                    <a:alpha val="0"/>
                  </a:srgbClr>
                </a:gs>
                <a:gs pos="66667">
                  <a:srgbClr val="00E5ED">
                    <a:alpha val="0"/>
                  </a:srgbClr>
                </a:gs>
                <a:gs pos="100000">
                  <a:srgbClr val="00E5E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4224177" y="67804"/>
            <a:ext cx="2740314" cy="10226990"/>
          </a:xfrm>
          <a:prstGeom prst="line">
            <a:avLst/>
          </a:prstGeom>
          <a:ln cap="flat" w="9525">
            <a:gradFill>
              <a:gsLst>
                <a:gs pos="0">
                  <a:srgbClr val="00E5ED">
                    <a:alpha val="100000"/>
                  </a:srgbClr>
                </a:gs>
                <a:gs pos="33333">
                  <a:srgbClr val="00E5ED">
                    <a:alpha val="0"/>
                  </a:srgbClr>
                </a:gs>
                <a:gs pos="66667">
                  <a:srgbClr val="00E5ED">
                    <a:alpha val="0"/>
                  </a:srgbClr>
                </a:gs>
                <a:gs pos="100000">
                  <a:srgbClr val="00E5E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4217794" y="-3123899"/>
            <a:ext cx="8140412" cy="8229600"/>
          </a:xfrm>
          <a:custGeom>
            <a:avLst/>
            <a:gdLst/>
            <a:ahLst/>
            <a:cxnLst/>
            <a:rect r="r" b="b" t="t" l="l"/>
            <a:pathLst>
              <a:path h="8229600" w="8140412">
                <a:moveTo>
                  <a:pt x="0" y="0"/>
                </a:moveTo>
                <a:lnTo>
                  <a:pt x="8140412" y="0"/>
                </a:lnTo>
                <a:lnTo>
                  <a:pt x="81404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6102904" y="3607626"/>
            <a:ext cx="8140412" cy="8229600"/>
          </a:xfrm>
          <a:custGeom>
            <a:avLst/>
            <a:gdLst/>
            <a:ahLst/>
            <a:cxnLst/>
            <a:rect r="r" b="b" t="t" l="l"/>
            <a:pathLst>
              <a:path h="8229600" w="8140412">
                <a:moveTo>
                  <a:pt x="0" y="0"/>
                </a:moveTo>
                <a:lnTo>
                  <a:pt x="8140412" y="0"/>
                </a:lnTo>
                <a:lnTo>
                  <a:pt x="81404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056785" y="-52151"/>
            <a:ext cx="8140412" cy="8229600"/>
          </a:xfrm>
          <a:custGeom>
            <a:avLst/>
            <a:gdLst/>
            <a:ahLst/>
            <a:cxnLst/>
            <a:rect r="r" b="b" t="t" l="l"/>
            <a:pathLst>
              <a:path h="8229600" w="8140412">
                <a:moveTo>
                  <a:pt x="0" y="0"/>
                </a:moveTo>
                <a:lnTo>
                  <a:pt x="8140412" y="0"/>
                </a:lnTo>
                <a:lnTo>
                  <a:pt x="81404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3041506" y="7503078"/>
            <a:ext cx="8140412" cy="8229600"/>
          </a:xfrm>
          <a:custGeom>
            <a:avLst/>
            <a:gdLst/>
            <a:ahLst/>
            <a:cxnLst/>
            <a:rect r="r" b="b" t="t" l="l"/>
            <a:pathLst>
              <a:path h="8229600" w="8140412">
                <a:moveTo>
                  <a:pt x="0" y="0"/>
                </a:moveTo>
                <a:lnTo>
                  <a:pt x="8140412" y="0"/>
                </a:lnTo>
                <a:lnTo>
                  <a:pt x="81404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328261" y="2140689"/>
            <a:ext cx="11708711" cy="7805807"/>
          </a:xfrm>
          <a:custGeom>
            <a:avLst/>
            <a:gdLst/>
            <a:ahLst/>
            <a:cxnLst/>
            <a:rect r="r" b="b" t="t" l="l"/>
            <a:pathLst>
              <a:path h="7805807" w="11708711">
                <a:moveTo>
                  <a:pt x="0" y="0"/>
                </a:moveTo>
                <a:lnTo>
                  <a:pt x="11708711" y="0"/>
                </a:lnTo>
                <a:lnTo>
                  <a:pt x="11708711" y="7805808"/>
                </a:lnTo>
                <a:lnTo>
                  <a:pt x="0" y="78058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48893" y="5313742"/>
            <a:ext cx="5979368" cy="1762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75"/>
              </a:lnSpc>
            </a:pPr>
            <a:r>
              <a:rPr lang="en-US" b="true" sz="7500" spc="-412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EXPERIME</a:t>
            </a:r>
            <a:r>
              <a:rPr lang="en-US" b="true" sz="7500" spc="-412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NT PIPELINE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1037924"/>
            <a:ext cx="4619753" cy="363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spc="-165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Lê Trần Anh Khoa - SE192585  ( LR )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17794" y="-3123899"/>
            <a:ext cx="8140412" cy="8229600"/>
          </a:xfrm>
          <a:custGeom>
            <a:avLst/>
            <a:gdLst/>
            <a:ahLst/>
            <a:cxnLst/>
            <a:rect r="r" b="b" t="t" l="l"/>
            <a:pathLst>
              <a:path h="8229600" w="8140412">
                <a:moveTo>
                  <a:pt x="0" y="0"/>
                </a:moveTo>
                <a:lnTo>
                  <a:pt x="8140412" y="0"/>
                </a:lnTo>
                <a:lnTo>
                  <a:pt x="81404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102904" y="3607626"/>
            <a:ext cx="8140412" cy="8229600"/>
          </a:xfrm>
          <a:custGeom>
            <a:avLst/>
            <a:gdLst/>
            <a:ahLst/>
            <a:cxnLst/>
            <a:rect r="r" b="b" t="t" l="l"/>
            <a:pathLst>
              <a:path h="8229600" w="8140412">
                <a:moveTo>
                  <a:pt x="0" y="0"/>
                </a:moveTo>
                <a:lnTo>
                  <a:pt x="8140412" y="0"/>
                </a:lnTo>
                <a:lnTo>
                  <a:pt x="81404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056785" y="-52151"/>
            <a:ext cx="8140412" cy="8229600"/>
          </a:xfrm>
          <a:custGeom>
            <a:avLst/>
            <a:gdLst/>
            <a:ahLst/>
            <a:cxnLst/>
            <a:rect r="r" b="b" t="t" l="l"/>
            <a:pathLst>
              <a:path h="8229600" w="8140412">
                <a:moveTo>
                  <a:pt x="0" y="0"/>
                </a:moveTo>
                <a:lnTo>
                  <a:pt x="8140412" y="0"/>
                </a:lnTo>
                <a:lnTo>
                  <a:pt x="81404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041506" y="7315309"/>
            <a:ext cx="8140412" cy="8229600"/>
          </a:xfrm>
          <a:custGeom>
            <a:avLst/>
            <a:gdLst/>
            <a:ahLst/>
            <a:cxnLst/>
            <a:rect r="r" b="b" t="t" l="l"/>
            <a:pathLst>
              <a:path h="8229600" w="8140412">
                <a:moveTo>
                  <a:pt x="0" y="0"/>
                </a:moveTo>
                <a:lnTo>
                  <a:pt x="8140412" y="0"/>
                </a:lnTo>
                <a:lnTo>
                  <a:pt x="81404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 flipH="true">
            <a:off x="1323510" y="79955"/>
            <a:ext cx="2733802" cy="10202689"/>
          </a:xfrm>
          <a:prstGeom prst="line">
            <a:avLst/>
          </a:prstGeom>
          <a:ln cap="flat" w="9525">
            <a:gradFill>
              <a:gsLst>
                <a:gs pos="0">
                  <a:srgbClr val="00E5ED">
                    <a:alpha val="100000"/>
                  </a:srgbClr>
                </a:gs>
                <a:gs pos="33333">
                  <a:srgbClr val="00E5ED">
                    <a:alpha val="0"/>
                  </a:srgbClr>
                </a:gs>
                <a:gs pos="66667">
                  <a:srgbClr val="00E5ED">
                    <a:alpha val="0"/>
                  </a:srgbClr>
                </a:gs>
                <a:gs pos="100000">
                  <a:srgbClr val="00E5E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9140744" y="67804"/>
            <a:ext cx="0" cy="10226990"/>
          </a:xfrm>
          <a:prstGeom prst="line">
            <a:avLst/>
          </a:prstGeom>
          <a:ln cap="flat" w="9525">
            <a:gradFill>
              <a:gsLst>
                <a:gs pos="0">
                  <a:srgbClr val="00E5ED">
                    <a:alpha val="100000"/>
                  </a:srgbClr>
                </a:gs>
                <a:gs pos="33333">
                  <a:srgbClr val="00E5ED">
                    <a:alpha val="0"/>
                  </a:srgbClr>
                </a:gs>
                <a:gs pos="66667">
                  <a:srgbClr val="00E5ED">
                    <a:alpha val="0"/>
                  </a:srgbClr>
                </a:gs>
                <a:gs pos="100000">
                  <a:srgbClr val="00E5E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4224177" y="67804"/>
            <a:ext cx="2740314" cy="10226990"/>
          </a:xfrm>
          <a:prstGeom prst="line">
            <a:avLst/>
          </a:prstGeom>
          <a:ln cap="flat" w="9525">
            <a:gradFill>
              <a:gsLst>
                <a:gs pos="0">
                  <a:srgbClr val="00E5ED">
                    <a:alpha val="100000"/>
                  </a:srgbClr>
                </a:gs>
                <a:gs pos="33333">
                  <a:srgbClr val="00E5ED">
                    <a:alpha val="0"/>
                  </a:srgbClr>
                </a:gs>
                <a:gs pos="66667">
                  <a:srgbClr val="00E5ED">
                    <a:alpha val="0"/>
                  </a:srgbClr>
                </a:gs>
                <a:gs pos="100000">
                  <a:srgbClr val="00E5E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763697" y="5253071"/>
            <a:ext cx="7490734" cy="3348213"/>
            <a:chOff x="0" y="0"/>
            <a:chExt cx="1972868" cy="88183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72868" cy="881834"/>
            </a:xfrm>
            <a:custGeom>
              <a:avLst/>
              <a:gdLst/>
              <a:ahLst/>
              <a:cxnLst/>
              <a:rect r="r" b="b" t="t" l="l"/>
              <a:pathLst>
                <a:path h="881834" w="1972868">
                  <a:moveTo>
                    <a:pt x="29972" y="0"/>
                  </a:moveTo>
                  <a:lnTo>
                    <a:pt x="1942896" y="0"/>
                  </a:lnTo>
                  <a:cubicBezTo>
                    <a:pt x="1959449" y="0"/>
                    <a:pt x="1972868" y="13419"/>
                    <a:pt x="1972868" y="29972"/>
                  </a:cubicBezTo>
                  <a:lnTo>
                    <a:pt x="1972868" y="851861"/>
                  </a:lnTo>
                  <a:cubicBezTo>
                    <a:pt x="1972868" y="859811"/>
                    <a:pt x="1969711" y="867434"/>
                    <a:pt x="1964090" y="873055"/>
                  </a:cubicBezTo>
                  <a:cubicBezTo>
                    <a:pt x="1958469" y="878676"/>
                    <a:pt x="1950845" y="881834"/>
                    <a:pt x="1942896" y="881834"/>
                  </a:cubicBezTo>
                  <a:lnTo>
                    <a:pt x="29972" y="881834"/>
                  </a:lnTo>
                  <a:cubicBezTo>
                    <a:pt x="13419" y="881834"/>
                    <a:pt x="0" y="868415"/>
                    <a:pt x="0" y="851861"/>
                  </a:cubicBezTo>
                  <a:lnTo>
                    <a:pt x="0" y="29972"/>
                  </a:lnTo>
                  <a:cubicBezTo>
                    <a:pt x="0" y="13419"/>
                    <a:pt x="13419" y="0"/>
                    <a:pt x="2997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1111">
                    <a:alpha val="100000"/>
                  </a:srgbClr>
                </a:gs>
                <a:gs pos="100000">
                  <a:srgbClr val="111111">
                    <a:alpha val="30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972868" cy="910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653346" y="1155052"/>
            <a:ext cx="7490734" cy="8496312"/>
            <a:chOff x="0" y="0"/>
            <a:chExt cx="1972868" cy="223771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72868" cy="2237712"/>
            </a:xfrm>
            <a:custGeom>
              <a:avLst/>
              <a:gdLst/>
              <a:ahLst/>
              <a:cxnLst/>
              <a:rect r="r" b="b" t="t" l="l"/>
              <a:pathLst>
                <a:path h="2237712" w="1972868">
                  <a:moveTo>
                    <a:pt x="29972" y="0"/>
                  </a:moveTo>
                  <a:lnTo>
                    <a:pt x="1942896" y="0"/>
                  </a:lnTo>
                  <a:cubicBezTo>
                    <a:pt x="1959449" y="0"/>
                    <a:pt x="1972868" y="13419"/>
                    <a:pt x="1972868" y="29972"/>
                  </a:cubicBezTo>
                  <a:lnTo>
                    <a:pt x="1972868" y="2207739"/>
                  </a:lnTo>
                  <a:cubicBezTo>
                    <a:pt x="1972868" y="2215688"/>
                    <a:pt x="1969711" y="2223312"/>
                    <a:pt x="1964090" y="2228933"/>
                  </a:cubicBezTo>
                  <a:cubicBezTo>
                    <a:pt x="1958469" y="2234554"/>
                    <a:pt x="1950845" y="2237712"/>
                    <a:pt x="1942896" y="2237712"/>
                  </a:cubicBezTo>
                  <a:lnTo>
                    <a:pt x="29972" y="2237712"/>
                  </a:lnTo>
                  <a:cubicBezTo>
                    <a:pt x="13419" y="2237712"/>
                    <a:pt x="0" y="2224293"/>
                    <a:pt x="0" y="2207739"/>
                  </a:cubicBezTo>
                  <a:lnTo>
                    <a:pt x="0" y="29972"/>
                  </a:lnTo>
                  <a:cubicBezTo>
                    <a:pt x="0" y="13419"/>
                    <a:pt x="13419" y="0"/>
                    <a:pt x="2997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1111">
                    <a:alpha val="100000"/>
                  </a:srgbClr>
                </a:gs>
                <a:gs pos="100000">
                  <a:srgbClr val="111111">
                    <a:alpha val="30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972868" cy="2266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08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28700" y="2157697"/>
            <a:ext cx="7642809" cy="2772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20"/>
              </a:lnSpc>
            </a:pPr>
            <a:r>
              <a:rPr lang="en-US" b="true" sz="8000" spc="-44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STATISTICAL PLAN </a:t>
            </a:r>
          </a:p>
          <a:p>
            <a:pPr algn="l">
              <a:lnSpc>
                <a:spcPts val="7120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1037924"/>
            <a:ext cx="4335218" cy="363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spc="-165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Trương Đan Huy - SE196508 (MS)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27799" y="5526534"/>
            <a:ext cx="6762530" cy="383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8"/>
              </a:lnSpc>
            </a:pPr>
            <a:r>
              <a:rPr lang="en-US" b="true" sz="3200" spc="-17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RQ1 -</a:t>
            </a:r>
            <a:r>
              <a:rPr lang="en-US" b="true" sz="3200" spc="-17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MUTATION SCORE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04963" y="6142575"/>
            <a:ext cx="7490734" cy="1172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 spc="-165">
                <a:solidFill>
                  <a:srgbClr val="FFFFFF"/>
                </a:solidFill>
                <a:latin typeface="Public Sans Extra-Light"/>
                <a:ea typeface="Public Sans Extra-Light"/>
                <a:cs typeface="Public Sans Extra-Light"/>
                <a:sym typeface="Public Sans Extra-Light"/>
              </a:rPr>
              <a:t>Metric: Trung vị mutation score</a:t>
            </a:r>
          </a:p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 spc="-165">
                <a:solidFill>
                  <a:srgbClr val="FFFFFF"/>
                </a:solidFill>
                <a:latin typeface="Public Sans Extra-Light"/>
                <a:ea typeface="Public Sans Extra-Light"/>
                <a:cs typeface="Public Sans Extra-Light"/>
                <a:sym typeface="Public Sans Extra-Light"/>
              </a:rPr>
              <a:t>Kiểm định: One-sample Wilcoxon</a:t>
            </a:r>
          </a:p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 spc="-165">
                <a:solidFill>
                  <a:srgbClr val="FFFFFF"/>
                </a:solidFill>
                <a:latin typeface="Public Sans Extra-Light"/>
                <a:ea typeface="Public Sans Extra-Light"/>
                <a:cs typeface="Public Sans Extra-Light"/>
                <a:sym typeface="Public Sans Extra-Light"/>
              </a:rPr>
              <a:t>Lý do: Dữ liệu dạng phần trăm, không giả định phân phối chuẩn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017448" y="2024347"/>
            <a:ext cx="6762530" cy="383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8"/>
              </a:lnSpc>
            </a:pPr>
            <a:r>
              <a:rPr lang="en-US" b="true" sz="3200" spc="-17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RQ2 -</a:t>
            </a:r>
            <a:r>
              <a:rPr lang="en-US" b="true" sz="3200" spc="-17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BRANCH COVERAGE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017448" y="2698004"/>
            <a:ext cx="5384043" cy="1172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 spc="-165">
                <a:solidFill>
                  <a:srgbClr val="FFFFFF"/>
                </a:solidFill>
                <a:latin typeface="Public Sans Extra-Light"/>
                <a:ea typeface="Public Sans Extra-Light"/>
                <a:cs typeface="Public Sans Extra-Light"/>
                <a:sym typeface="Public Sans Extra-Light"/>
              </a:rPr>
              <a:t>Metric: Trung vị branch coverage</a:t>
            </a:r>
          </a:p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 spc="-165">
                <a:solidFill>
                  <a:srgbClr val="FFFFFF"/>
                </a:solidFill>
                <a:latin typeface="Public Sans Extra-Light"/>
                <a:ea typeface="Public Sans Extra-Light"/>
                <a:cs typeface="Public Sans Extra-Light"/>
                <a:sym typeface="Public Sans Extra-Light"/>
              </a:rPr>
              <a:t>Kiểm định: One-sample Wilcoxon</a:t>
            </a:r>
          </a:p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 spc="-165">
                <a:solidFill>
                  <a:srgbClr val="FFFFFF"/>
                </a:solidFill>
                <a:latin typeface="Public Sans Extra-Light"/>
                <a:ea typeface="Public Sans Extra-Light"/>
                <a:cs typeface="Public Sans Extra-Light"/>
                <a:sym typeface="Public Sans Extra-Light"/>
              </a:rPr>
              <a:t>Lý do: Điểm coverage được đo theo từng class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017448" y="4598983"/>
            <a:ext cx="6762530" cy="383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8"/>
              </a:lnSpc>
            </a:pPr>
            <a:r>
              <a:rPr lang="en-US" b="true" sz="3200" spc="-17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RQ3 -</a:t>
            </a:r>
            <a:r>
              <a:rPr lang="en-US" b="true" sz="3200" spc="-17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BUILD SUCCESS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031332" y="5086350"/>
            <a:ext cx="5818994" cy="1172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 spc="-165">
                <a:solidFill>
                  <a:srgbClr val="FFFFFF"/>
                </a:solidFill>
                <a:latin typeface="Public Sans Extra-Light"/>
                <a:ea typeface="Public Sans Extra-Light"/>
                <a:cs typeface="Public Sans Extra-Light"/>
                <a:sym typeface="Public Sans Extra-Light"/>
              </a:rPr>
              <a:t>Metric: Tỷ lệ build thành công</a:t>
            </a:r>
          </a:p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 spc="-165">
                <a:solidFill>
                  <a:srgbClr val="FFFFFF"/>
                </a:solidFill>
                <a:latin typeface="Public Sans Extra-Light"/>
                <a:ea typeface="Public Sans Extra-Light"/>
                <a:cs typeface="Public Sans Extra-Light"/>
                <a:sym typeface="Public Sans Extra-Light"/>
              </a:rPr>
              <a:t>Kiểm định: Binomial exact test</a:t>
            </a:r>
          </a:p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 spc="-165">
                <a:solidFill>
                  <a:srgbClr val="FFFFFF"/>
                </a:solidFill>
                <a:latin typeface="Public Sans Extra-Light"/>
                <a:ea typeface="Public Sans Extra-Light"/>
                <a:cs typeface="Public Sans Extra-Light"/>
                <a:sym typeface="Public Sans Extra-Light"/>
              </a:rPr>
              <a:t>Lý do: Kết quả dạng nhị phân: thành công / thất bại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017448" y="6932224"/>
            <a:ext cx="6762530" cy="383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8"/>
              </a:lnSpc>
            </a:pPr>
            <a:r>
              <a:rPr lang="en-US" b="true" sz="3200" spc="-17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RQ4 –</a:t>
            </a:r>
            <a:r>
              <a:rPr lang="en-US" b="true" sz="3200" spc="-17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GPT VS EVOSUITE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031332" y="7610584"/>
            <a:ext cx="7048314" cy="1953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 spc="-165">
                <a:solidFill>
                  <a:srgbClr val="FFFFFF"/>
                </a:solidFill>
                <a:latin typeface="Public Sans Extra-Light"/>
                <a:ea typeface="Public Sans Extra-Light"/>
                <a:cs typeface="Public Sans Extra-Light"/>
                <a:sym typeface="Public Sans Extra-Light"/>
              </a:rPr>
              <a:t>Metric: Phân phối mutation score</a:t>
            </a:r>
          </a:p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 spc="-165">
                <a:solidFill>
                  <a:srgbClr val="FFFFFF"/>
                </a:solidFill>
                <a:latin typeface="Public Sans Extra-Light"/>
                <a:ea typeface="Public Sans Extra-Light"/>
                <a:cs typeface="Public Sans Extra-Light"/>
                <a:sym typeface="Public Sans Extra-Light"/>
              </a:rPr>
              <a:t>Kiểm định: Mann-Whitney U</a:t>
            </a:r>
          </a:p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 spc="-165">
                <a:solidFill>
                  <a:srgbClr val="FFFFFF"/>
                </a:solidFill>
                <a:latin typeface="Public Sans Extra-Light"/>
                <a:ea typeface="Public Sans Extra-Light"/>
                <a:cs typeface="Public Sans Extra-Light"/>
                <a:sym typeface="Public Sans Extra-Light"/>
              </a:rPr>
              <a:t>Effect size: A12</a:t>
            </a:r>
          </a:p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 spc="-165">
                <a:solidFill>
                  <a:srgbClr val="FFFFFF"/>
                </a:solidFill>
                <a:latin typeface="Public Sans Extra-Light"/>
                <a:ea typeface="Public Sans Extra-Light"/>
                <a:cs typeface="Public Sans Extra-Light"/>
                <a:sym typeface="Public Sans Extra-Light"/>
              </a:rPr>
              <a:t>Mục đích: So sánh mức độ khác biệt thực tế giữa GPT-4o-mini</a:t>
            </a:r>
          </a:p>
          <a:p>
            <a:pPr algn="l">
              <a:lnSpc>
                <a:spcPts val="3080"/>
              </a:lnSpc>
            </a:pPr>
            <a:r>
              <a:rPr lang="en-US" sz="2200" spc="-165">
                <a:solidFill>
                  <a:srgbClr val="FFFFFF"/>
                </a:solidFill>
                <a:latin typeface="Public Sans Extra-Light"/>
                <a:ea typeface="Public Sans Extra-Light"/>
                <a:cs typeface="Public Sans Extra-Light"/>
                <a:sym typeface="Public Sans Extra-Light"/>
              </a:rPr>
              <a:t> và EvoSuite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17794" y="-3123899"/>
            <a:ext cx="8140412" cy="8229600"/>
          </a:xfrm>
          <a:custGeom>
            <a:avLst/>
            <a:gdLst/>
            <a:ahLst/>
            <a:cxnLst/>
            <a:rect r="r" b="b" t="t" l="l"/>
            <a:pathLst>
              <a:path h="8229600" w="8140412">
                <a:moveTo>
                  <a:pt x="0" y="0"/>
                </a:moveTo>
                <a:lnTo>
                  <a:pt x="8140412" y="0"/>
                </a:lnTo>
                <a:lnTo>
                  <a:pt x="81404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102904" y="3607626"/>
            <a:ext cx="8140412" cy="8229600"/>
          </a:xfrm>
          <a:custGeom>
            <a:avLst/>
            <a:gdLst/>
            <a:ahLst/>
            <a:cxnLst/>
            <a:rect r="r" b="b" t="t" l="l"/>
            <a:pathLst>
              <a:path h="8229600" w="8140412">
                <a:moveTo>
                  <a:pt x="0" y="0"/>
                </a:moveTo>
                <a:lnTo>
                  <a:pt x="8140412" y="0"/>
                </a:lnTo>
                <a:lnTo>
                  <a:pt x="81404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056785" y="-52151"/>
            <a:ext cx="8140412" cy="8229600"/>
          </a:xfrm>
          <a:custGeom>
            <a:avLst/>
            <a:gdLst/>
            <a:ahLst/>
            <a:cxnLst/>
            <a:rect r="r" b="b" t="t" l="l"/>
            <a:pathLst>
              <a:path h="8229600" w="8140412">
                <a:moveTo>
                  <a:pt x="0" y="0"/>
                </a:moveTo>
                <a:lnTo>
                  <a:pt x="8140412" y="0"/>
                </a:lnTo>
                <a:lnTo>
                  <a:pt x="81404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041506" y="7315309"/>
            <a:ext cx="8140412" cy="8229600"/>
          </a:xfrm>
          <a:custGeom>
            <a:avLst/>
            <a:gdLst/>
            <a:ahLst/>
            <a:cxnLst/>
            <a:rect r="r" b="b" t="t" l="l"/>
            <a:pathLst>
              <a:path h="8229600" w="8140412">
                <a:moveTo>
                  <a:pt x="0" y="0"/>
                </a:moveTo>
                <a:lnTo>
                  <a:pt x="8140412" y="0"/>
                </a:lnTo>
                <a:lnTo>
                  <a:pt x="81404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 flipH="true">
            <a:off x="1323510" y="79955"/>
            <a:ext cx="2733802" cy="10202689"/>
          </a:xfrm>
          <a:prstGeom prst="line">
            <a:avLst/>
          </a:prstGeom>
          <a:ln cap="flat" w="9525">
            <a:gradFill>
              <a:gsLst>
                <a:gs pos="0">
                  <a:srgbClr val="00E5ED">
                    <a:alpha val="100000"/>
                  </a:srgbClr>
                </a:gs>
                <a:gs pos="33333">
                  <a:srgbClr val="00E5ED">
                    <a:alpha val="0"/>
                  </a:srgbClr>
                </a:gs>
                <a:gs pos="66667">
                  <a:srgbClr val="00E5ED">
                    <a:alpha val="0"/>
                  </a:srgbClr>
                </a:gs>
                <a:gs pos="100000">
                  <a:srgbClr val="00E5E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9140744" y="67804"/>
            <a:ext cx="0" cy="10226990"/>
          </a:xfrm>
          <a:prstGeom prst="line">
            <a:avLst/>
          </a:prstGeom>
          <a:ln cap="flat" w="9525">
            <a:gradFill>
              <a:gsLst>
                <a:gs pos="0">
                  <a:srgbClr val="00E5ED">
                    <a:alpha val="100000"/>
                  </a:srgbClr>
                </a:gs>
                <a:gs pos="33333">
                  <a:srgbClr val="00E5ED">
                    <a:alpha val="0"/>
                  </a:srgbClr>
                </a:gs>
                <a:gs pos="66667">
                  <a:srgbClr val="00E5ED">
                    <a:alpha val="0"/>
                  </a:srgbClr>
                </a:gs>
                <a:gs pos="100000">
                  <a:srgbClr val="00E5E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4224177" y="67804"/>
            <a:ext cx="2740314" cy="10226990"/>
          </a:xfrm>
          <a:prstGeom prst="line">
            <a:avLst/>
          </a:prstGeom>
          <a:ln cap="flat" w="9525">
            <a:gradFill>
              <a:gsLst>
                <a:gs pos="0">
                  <a:srgbClr val="00E5ED">
                    <a:alpha val="100000"/>
                  </a:srgbClr>
                </a:gs>
                <a:gs pos="33333">
                  <a:srgbClr val="00E5ED">
                    <a:alpha val="0"/>
                  </a:srgbClr>
                </a:gs>
                <a:gs pos="66667">
                  <a:srgbClr val="00E5ED">
                    <a:alpha val="0"/>
                  </a:srgbClr>
                </a:gs>
                <a:gs pos="100000">
                  <a:srgbClr val="00E5E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9621757" y="750400"/>
            <a:ext cx="8112044" cy="2772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20"/>
              </a:lnSpc>
            </a:pPr>
            <a:r>
              <a:rPr lang="en-US" b="true" sz="8000" spc="-44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THR</a:t>
            </a:r>
            <a:r>
              <a:rPr lang="en-US" b="true" sz="8000" spc="-44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EATS AND MITIGATION</a:t>
            </a:r>
          </a:p>
          <a:p>
            <a:pPr algn="l">
              <a:lnSpc>
                <a:spcPts val="7120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549490" y="2722617"/>
            <a:ext cx="8112044" cy="3247825"/>
            <a:chOff x="0" y="0"/>
            <a:chExt cx="2136505" cy="85539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36505" cy="855394"/>
            </a:xfrm>
            <a:custGeom>
              <a:avLst/>
              <a:gdLst/>
              <a:ahLst/>
              <a:cxnLst/>
              <a:rect r="r" b="b" t="t" l="l"/>
              <a:pathLst>
                <a:path h="855394" w="2136505">
                  <a:moveTo>
                    <a:pt x="27677" y="0"/>
                  </a:moveTo>
                  <a:lnTo>
                    <a:pt x="2108829" y="0"/>
                  </a:lnTo>
                  <a:cubicBezTo>
                    <a:pt x="2124114" y="0"/>
                    <a:pt x="2136505" y="12391"/>
                    <a:pt x="2136505" y="27677"/>
                  </a:cubicBezTo>
                  <a:lnTo>
                    <a:pt x="2136505" y="827717"/>
                  </a:lnTo>
                  <a:cubicBezTo>
                    <a:pt x="2136505" y="835058"/>
                    <a:pt x="2133590" y="842097"/>
                    <a:pt x="2128399" y="847288"/>
                  </a:cubicBezTo>
                  <a:cubicBezTo>
                    <a:pt x="2123209" y="852478"/>
                    <a:pt x="2116169" y="855394"/>
                    <a:pt x="2108829" y="855394"/>
                  </a:cubicBezTo>
                  <a:lnTo>
                    <a:pt x="27677" y="855394"/>
                  </a:lnTo>
                  <a:cubicBezTo>
                    <a:pt x="20336" y="855394"/>
                    <a:pt x="13297" y="852478"/>
                    <a:pt x="8106" y="847288"/>
                  </a:cubicBezTo>
                  <a:cubicBezTo>
                    <a:pt x="2916" y="842097"/>
                    <a:pt x="0" y="835058"/>
                    <a:pt x="0" y="827717"/>
                  </a:cubicBezTo>
                  <a:lnTo>
                    <a:pt x="0" y="27677"/>
                  </a:lnTo>
                  <a:cubicBezTo>
                    <a:pt x="0" y="20336"/>
                    <a:pt x="2916" y="13297"/>
                    <a:pt x="8106" y="8106"/>
                  </a:cubicBezTo>
                  <a:cubicBezTo>
                    <a:pt x="13297" y="2916"/>
                    <a:pt x="20336" y="0"/>
                    <a:pt x="2767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1111">
                    <a:alpha val="100000"/>
                  </a:srgbClr>
                </a:gs>
                <a:gs pos="100000">
                  <a:srgbClr val="111111">
                    <a:alpha val="30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2136505" cy="883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28700" y="1037924"/>
            <a:ext cx="4335218" cy="363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spc="-165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Trương Đan Huy - SE196508 (MS)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77953" y="2820987"/>
            <a:ext cx="7848561" cy="3402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6"/>
              </a:lnSpc>
            </a:pPr>
            <a:r>
              <a:rPr lang="en-US" sz="2944" spc="-188" b="true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Sil</a:t>
            </a:r>
            <a:r>
              <a:rPr lang="en-US" b="true" sz="2944" spc="-188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ent Model Drift</a:t>
            </a:r>
          </a:p>
          <a:p>
            <a:pPr algn="l" marL="635742" indent="-317871" lvl="1">
              <a:lnSpc>
                <a:spcPts val="3886"/>
              </a:lnSpc>
              <a:buFont typeface="Arial"/>
              <a:buChar char="•"/>
            </a:pPr>
            <a:r>
              <a:rPr lang="en-US" sz="2944" spc="-188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Nguy cơ: Hành vi của LLM có thể thay đổi theo thời gian</a:t>
            </a:r>
          </a:p>
          <a:p>
            <a:pPr algn="l" marL="635742" indent="-317871" lvl="1">
              <a:lnSpc>
                <a:spcPts val="3886"/>
              </a:lnSpc>
              <a:buFont typeface="Arial"/>
              <a:buChar char="•"/>
            </a:pPr>
            <a:r>
              <a:rPr lang="en-US" sz="2944" spc="-188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Giảm thiểu: Cố định đúng phiên bản model</a:t>
            </a:r>
          </a:p>
          <a:p>
            <a:pPr algn="l" marL="635742" indent="-317871" lvl="1">
              <a:lnSpc>
                <a:spcPts val="3886"/>
              </a:lnSpc>
              <a:buFont typeface="Arial"/>
              <a:buChar char="•"/>
            </a:pPr>
            <a:r>
              <a:rPr lang="en-US" sz="2944" spc="-188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Ghi log timestamp, cấu hình request và raw response</a:t>
            </a:r>
          </a:p>
          <a:p>
            <a:pPr algn="l" marL="0" indent="0" lvl="0">
              <a:lnSpc>
                <a:spcPts val="3886"/>
              </a:lnSpc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9360527" y="2789999"/>
            <a:ext cx="8112044" cy="3337668"/>
            <a:chOff x="0" y="0"/>
            <a:chExt cx="2136505" cy="87905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36505" cy="879057"/>
            </a:xfrm>
            <a:custGeom>
              <a:avLst/>
              <a:gdLst/>
              <a:ahLst/>
              <a:cxnLst/>
              <a:rect r="r" b="b" t="t" l="l"/>
              <a:pathLst>
                <a:path h="879057" w="2136505">
                  <a:moveTo>
                    <a:pt x="27677" y="0"/>
                  </a:moveTo>
                  <a:lnTo>
                    <a:pt x="2108829" y="0"/>
                  </a:lnTo>
                  <a:cubicBezTo>
                    <a:pt x="2124114" y="0"/>
                    <a:pt x="2136505" y="12391"/>
                    <a:pt x="2136505" y="27677"/>
                  </a:cubicBezTo>
                  <a:lnTo>
                    <a:pt x="2136505" y="851380"/>
                  </a:lnTo>
                  <a:cubicBezTo>
                    <a:pt x="2136505" y="858720"/>
                    <a:pt x="2133590" y="865760"/>
                    <a:pt x="2128399" y="870950"/>
                  </a:cubicBezTo>
                  <a:cubicBezTo>
                    <a:pt x="2123209" y="876141"/>
                    <a:pt x="2116169" y="879057"/>
                    <a:pt x="2108829" y="879057"/>
                  </a:cubicBezTo>
                  <a:lnTo>
                    <a:pt x="27677" y="879057"/>
                  </a:lnTo>
                  <a:cubicBezTo>
                    <a:pt x="20336" y="879057"/>
                    <a:pt x="13297" y="876141"/>
                    <a:pt x="8106" y="870950"/>
                  </a:cubicBezTo>
                  <a:cubicBezTo>
                    <a:pt x="2916" y="865760"/>
                    <a:pt x="0" y="858720"/>
                    <a:pt x="0" y="851380"/>
                  </a:cubicBezTo>
                  <a:lnTo>
                    <a:pt x="0" y="27677"/>
                  </a:lnTo>
                  <a:cubicBezTo>
                    <a:pt x="0" y="20336"/>
                    <a:pt x="2916" y="13297"/>
                    <a:pt x="8106" y="8106"/>
                  </a:cubicBezTo>
                  <a:cubicBezTo>
                    <a:pt x="13297" y="2916"/>
                    <a:pt x="20336" y="0"/>
                    <a:pt x="2767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1111">
                    <a:alpha val="100000"/>
                  </a:srgbClr>
                </a:gs>
                <a:gs pos="100000">
                  <a:srgbClr val="111111">
                    <a:alpha val="30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2136505" cy="907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753498" y="2919480"/>
            <a:ext cx="7848561" cy="3402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6"/>
              </a:lnSpc>
            </a:pPr>
            <a:r>
              <a:rPr lang="en-US" sz="2944" spc="-188" b="true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Buil</a:t>
            </a:r>
            <a:r>
              <a:rPr lang="en-US" b="true" sz="2944" spc="-188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d-fail Bias</a:t>
            </a:r>
          </a:p>
          <a:p>
            <a:pPr algn="l" marL="635742" indent="-317871" lvl="1">
              <a:lnSpc>
                <a:spcPts val="3886"/>
              </a:lnSpc>
              <a:buFont typeface="Arial"/>
              <a:buChar char="•"/>
            </a:pPr>
            <a:r>
              <a:rPr lang="en-US" sz="2944" spc="-188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Nguy cơ: Kết quả có thể bị “đẹp giả tạo” nếu bỏ qua các test bị lỗi</a:t>
            </a:r>
          </a:p>
          <a:p>
            <a:pPr algn="l" marL="635742" indent="-317871" lvl="1">
              <a:lnSpc>
                <a:spcPts val="3886"/>
              </a:lnSpc>
              <a:buFont typeface="Arial"/>
              <a:buChar char="•"/>
            </a:pPr>
            <a:r>
              <a:rPr lang="en-US" sz="2944" spc="-188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Giảm thiểu: Test fail build/run = 0.0 điểm</a:t>
            </a:r>
          </a:p>
          <a:p>
            <a:pPr algn="l" marL="635742" indent="-317871" lvl="1">
              <a:lnSpc>
                <a:spcPts val="3886"/>
              </a:lnSpc>
              <a:buFont typeface="Arial"/>
              <a:buChar char="•"/>
            </a:pPr>
            <a:r>
              <a:rPr lang="en-US" sz="2944" spc="-188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Giữ nguyên toàn bộ mẫu trong mẫu số</a:t>
            </a:r>
          </a:p>
          <a:p>
            <a:pPr algn="l">
              <a:lnSpc>
                <a:spcPts val="3886"/>
              </a:lnSpc>
            </a:pPr>
          </a:p>
          <a:p>
            <a:pPr algn="l" marL="0" indent="0" lvl="0">
              <a:lnSpc>
                <a:spcPts val="3886"/>
              </a:lnSpc>
            </a:pPr>
          </a:p>
        </p:txBody>
      </p:sp>
      <p:grpSp>
        <p:nvGrpSpPr>
          <p:cNvPr name="Group 19" id="19"/>
          <p:cNvGrpSpPr/>
          <p:nvPr/>
        </p:nvGrpSpPr>
        <p:grpSpPr>
          <a:xfrm rot="0">
            <a:off x="414470" y="6820722"/>
            <a:ext cx="8112044" cy="3236594"/>
            <a:chOff x="0" y="0"/>
            <a:chExt cx="2136505" cy="85243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36505" cy="852436"/>
            </a:xfrm>
            <a:custGeom>
              <a:avLst/>
              <a:gdLst/>
              <a:ahLst/>
              <a:cxnLst/>
              <a:rect r="r" b="b" t="t" l="l"/>
              <a:pathLst>
                <a:path h="852436" w="2136505">
                  <a:moveTo>
                    <a:pt x="27677" y="0"/>
                  </a:moveTo>
                  <a:lnTo>
                    <a:pt x="2108829" y="0"/>
                  </a:lnTo>
                  <a:cubicBezTo>
                    <a:pt x="2124114" y="0"/>
                    <a:pt x="2136505" y="12391"/>
                    <a:pt x="2136505" y="27677"/>
                  </a:cubicBezTo>
                  <a:lnTo>
                    <a:pt x="2136505" y="824760"/>
                  </a:lnTo>
                  <a:cubicBezTo>
                    <a:pt x="2136505" y="832100"/>
                    <a:pt x="2133590" y="839140"/>
                    <a:pt x="2128399" y="844330"/>
                  </a:cubicBezTo>
                  <a:cubicBezTo>
                    <a:pt x="2123209" y="849521"/>
                    <a:pt x="2116169" y="852436"/>
                    <a:pt x="2108829" y="852436"/>
                  </a:cubicBezTo>
                  <a:lnTo>
                    <a:pt x="27677" y="852436"/>
                  </a:lnTo>
                  <a:cubicBezTo>
                    <a:pt x="20336" y="852436"/>
                    <a:pt x="13297" y="849521"/>
                    <a:pt x="8106" y="844330"/>
                  </a:cubicBezTo>
                  <a:cubicBezTo>
                    <a:pt x="2916" y="839140"/>
                    <a:pt x="0" y="832100"/>
                    <a:pt x="0" y="824760"/>
                  </a:cubicBezTo>
                  <a:lnTo>
                    <a:pt x="0" y="27677"/>
                  </a:lnTo>
                  <a:cubicBezTo>
                    <a:pt x="0" y="20336"/>
                    <a:pt x="2916" y="13297"/>
                    <a:pt x="8106" y="8106"/>
                  </a:cubicBezTo>
                  <a:cubicBezTo>
                    <a:pt x="13297" y="2916"/>
                    <a:pt x="20336" y="0"/>
                    <a:pt x="2767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1111">
                    <a:alpha val="100000"/>
                  </a:srgbClr>
                </a:gs>
                <a:gs pos="100000">
                  <a:srgbClr val="111111">
                    <a:alpha val="30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2136505" cy="8810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360527" y="6805656"/>
            <a:ext cx="8112044" cy="3247825"/>
            <a:chOff x="0" y="0"/>
            <a:chExt cx="2136505" cy="85539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36505" cy="855394"/>
            </a:xfrm>
            <a:custGeom>
              <a:avLst/>
              <a:gdLst/>
              <a:ahLst/>
              <a:cxnLst/>
              <a:rect r="r" b="b" t="t" l="l"/>
              <a:pathLst>
                <a:path h="855394" w="2136505">
                  <a:moveTo>
                    <a:pt x="27677" y="0"/>
                  </a:moveTo>
                  <a:lnTo>
                    <a:pt x="2108829" y="0"/>
                  </a:lnTo>
                  <a:cubicBezTo>
                    <a:pt x="2124114" y="0"/>
                    <a:pt x="2136505" y="12391"/>
                    <a:pt x="2136505" y="27677"/>
                  </a:cubicBezTo>
                  <a:lnTo>
                    <a:pt x="2136505" y="827717"/>
                  </a:lnTo>
                  <a:cubicBezTo>
                    <a:pt x="2136505" y="835058"/>
                    <a:pt x="2133590" y="842097"/>
                    <a:pt x="2128399" y="847288"/>
                  </a:cubicBezTo>
                  <a:cubicBezTo>
                    <a:pt x="2123209" y="852478"/>
                    <a:pt x="2116169" y="855394"/>
                    <a:pt x="2108829" y="855394"/>
                  </a:cubicBezTo>
                  <a:lnTo>
                    <a:pt x="27677" y="855394"/>
                  </a:lnTo>
                  <a:cubicBezTo>
                    <a:pt x="20336" y="855394"/>
                    <a:pt x="13297" y="852478"/>
                    <a:pt x="8106" y="847288"/>
                  </a:cubicBezTo>
                  <a:cubicBezTo>
                    <a:pt x="2916" y="842097"/>
                    <a:pt x="0" y="835058"/>
                    <a:pt x="0" y="827717"/>
                  </a:cubicBezTo>
                  <a:lnTo>
                    <a:pt x="0" y="27677"/>
                  </a:lnTo>
                  <a:cubicBezTo>
                    <a:pt x="0" y="20336"/>
                    <a:pt x="2916" y="13297"/>
                    <a:pt x="8106" y="8106"/>
                  </a:cubicBezTo>
                  <a:cubicBezTo>
                    <a:pt x="13297" y="2916"/>
                    <a:pt x="20336" y="0"/>
                    <a:pt x="2767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1111">
                    <a:alpha val="100000"/>
                  </a:srgbClr>
                </a:gs>
                <a:gs pos="100000">
                  <a:srgbClr val="111111">
                    <a:alpha val="30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2136505" cy="883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549490" y="6909541"/>
            <a:ext cx="7848561" cy="2917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6"/>
              </a:lnSpc>
            </a:pPr>
            <a:r>
              <a:rPr lang="en-US" sz="2944" spc="-188" b="true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Small</a:t>
            </a:r>
            <a:r>
              <a:rPr lang="en-US" b="true" sz="2944" spc="-188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Sample Size</a:t>
            </a:r>
          </a:p>
          <a:p>
            <a:pPr algn="l" marL="635742" indent="-317871" lvl="1">
              <a:lnSpc>
                <a:spcPts val="3886"/>
              </a:lnSpc>
              <a:buFont typeface="Arial"/>
              <a:buChar char="•"/>
            </a:pPr>
            <a:r>
              <a:rPr lang="en-US" sz="2944" spc="-188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Nguy cơ: Độ mạnh thống kê thấp</a:t>
            </a:r>
          </a:p>
          <a:p>
            <a:pPr algn="l" marL="635742" indent="-317871" lvl="1">
              <a:lnSpc>
                <a:spcPts val="3886"/>
              </a:lnSpc>
              <a:buFont typeface="Arial"/>
              <a:buChar char="•"/>
            </a:pPr>
            <a:r>
              <a:rPr lang="en-US" sz="2944" spc="-188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Giảm thiểu: Chạy pilot gate trước</a:t>
            </a:r>
          </a:p>
          <a:p>
            <a:pPr algn="l" marL="635742" indent="-317871" lvl="1">
              <a:lnSpc>
                <a:spcPts val="3886"/>
              </a:lnSpc>
              <a:buFont typeface="Arial"/>
              <a:buChar char="•"/>
            </a:pPr>
            <a:r>
              <a:rPr lang="en-US" sz="2944" spc="-188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Tăn</a:t>
            </a:r>
            <a:r>
              <a:rPr lang="en-US" sz="2944" spc="-188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g sample từ 30 lên 40 nếu số class phân tích được &lt; 24</a:t>
            </a:r>
          </a:p>
          <a:p>
            <a:pPr algn="l" marL="0" indent="0" lvl="0">
              <a:lnSpc>
                <a:spcPts val="3886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9621757" y="6909541"/>
            <a:ext cx="7848561" cy="3403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6"/>
              </a:lnSpc>
            </a:pPr>
            <a:r>
              <a:rPr lang="en-US" sz="2944" spc="-188" b="true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Limited Generalizabil</a:t>
            </a:r>
            <a:r>
              <a:rPr lang="en-US" b="true" sz="2944" spc="-188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ity</a:t>
            </a:r>
          </a:p>
          <a:p>
            <a:pPr algn="l" marL="635742" indent="-317871" lvl="1">
              <a:lnSpc>
                <a:spcPts val="3886"/>
              </a:lnSpc>
              <a:buFont typeface="Arial"/>
              <a:buChar char="•"/>
            </a:pPr>
            <a:r>
              <a:rPr lang="en-US" sz="2944" spc="-188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Nguy cơ: Kết quả có thể không áp dụng cho mọi ngôn ngữ hoặc project</a:t>
            </a:r>
          </a:p>
          <a:p>
            <a:pPr algn="l" marL="635742" indent="-317871" lvl="1">
              <a:lnSpc>
                <a:spcPts val="3886"/>
              </a:lnSpc>
              <a:buFont typeface="Arial"/>
              <a:buChar char="•"/>
            </a:pPr>
            <a:r>
              <a:rPr lang="en-US" sz="2944" spc="-188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Giảm thiểu: Giới hạn phạm vi kết luậ</a:t>
            </a:r>
            <a:r>
              <a:rPr lang="en-US" sz="2944" spc="-188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n</a:t>
            </a:r>
          </a:p>
          <a:p>
            <a:pPr algn="l" marL="635742" indent="-317871" lvl="1">
              <a:lnSpc>
                <a:spcPts val="3886"/>
              </a:lnSpc>
              <a:buFont typeface="Arial"/>
              <a:buChar char="•"/>
            </a:pPr>
            <a:r>
              <a:rPr lang="en-US" sz="2944" spc="-188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Chỉ</a:t>
            </a:r>
            <a:r>
              <a:rPr lang="en-US" sz="2944" spc="-188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claim trong phạm vi Java class-level unit test generation trên CLASSES2TEST</a:t>
            </a:r>
          </a:p>
          <a:p>
            <a:pPr algn="l" marL="0" indent="0" lvl="0">
              <a:lnSpc>
                <a:spcPts val="3886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17794" y="-3123899"/>
            <a:ext cx="8140412" cy="8229600"/>
          </a:xfrm>
          <a:custGeom>
            <a:avLst/>
            <a:gdLst/>
            <a:ahLst/>
            <a:cxnLst/>
            <a:rect r="r" b="b" t="t" l="l"/>
            <a:pathLst>
              <a:path h="8229600" w="8140412">
                <a:moveTo>
                  <a:pt x="0" y="0"/>
                </a:moveTo>
                <a:lnTo>
                  <a:pt x="8140412" y="0"/>
                </a:lnTo>
                <a:lnTo>
                  <a:pt x="81404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102904" y="3607626"/>
            <a:ext cx="8140412" cy="8229600"/>
          </a:xfrm>
          <a:custGeom>
            <a:avLst/>
            <a:gdLst/>
            <a:ahLst/>
            <a:cxnLst/>
            <a:rect r="r" b="b" t="t" l="l"/>
            <a:pathLst>
              <a:path h="8229600" w="8140412">
                <a:moveTo>
                  <a:pt x="0" y="0"/>
                </a:moveTo>
                <a:lnTo>
                  <a:pt x="8140412" y="0"/>
                </a:lnTo>
                <a:lnTo>
                  <a:pt x="81404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056785" y="-52151"/>
            <a:ext cx="8140412" cy="8229600"/>
          </a:xfrm>
          <a:custGeom>
            <a:avLst/>
            <a:gdLst/>
            <a:ahLst/>
            <a:cxnLst/>
            <a:rect r="r" b="b" t="t" l="l"/>
            <a:pathLst>
              <a:path h="8229600" w="8140412">
                <a:moveTo>
                  <a:pt x="0" y="0"/>
                </a:moveTo>
                <a:lnTo>
                  <a:pt x="8140412" y="0"/>
                </a:lnTo>
                <a:lnTo>
                  <a:pt x="81404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041506" y="7315309"/>
            <a:ext cx="8140412" cy="8229600"/>
          </a:xfrm>
          <a:custGeom>
            <a:avLst/>
            <a:gdLst/>
            <a:ahLst/>
            <a:cxnLst/>
            <a:rect r="r" b="b" t="t" l="l"/>
            <a:pathLst>
              <a:path h="8229600" w="8140412">
                <a:moveTo>
                  <a:pt x="0" y="0"/>
                </a:moveTo>
                <a:lnTo>
                  <a:pt x="8140412" y="0"/>
                </a:lnTo>
                <a:lnTo>
                  <a:pt x="81404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 flipH="true">
            <a:off x="1323510" y="79955"/>
            <a:ext cx="2733802" cy="10202689"/>
          </a:xfrm>
          <a:prstGeom prst="line">
            <a:avLst/>
          </a:prstGeom>
          <a:ln cap="flat" w="9525">
            <a:gradFill>
              <a:gsLst>
                <a:gs pos="0">
                  <a:srgbClr val="00E5ED">
                    <a:alpha val="100000"/>
                  </a:srgbClr>
                </a:gs>
                <a:gs pos="33333">
                  <a:srgbClr val="00E5ED">
                    <a:alpha val="0"/>
                  </a:srgbClr>
                </a:gs>
                <a:gs pos="66667">
                  <a:srgbClr val="00E5ED">
                    <a:alpha val="0"/>
                  </a:srgbClr>
                </a:gs>
                <a:gs pos="100000">
                  <a:srgbClr val="00E5E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9140744" y="67804"/>
            <a:ext cx="0" cy="10226990"/>
          </a:xfrm>
          <a:prstGeom prst="line">
            <a:avLst/>
          </a:prstGeom>
          <a:ln cap="flat" w="9525">
            <a:gradFill>
              <a:gsLst>
                <a:gs pos="0">
                  <a:srgbClr val="00E5ED">
                    <a:alpha val="100000"/>
                  </a:srgbClr>
                </a:gs>
                <a:gs pos="33333">
                  <a:srgbClr val="00E5ED">
                    <a:alpha val="0"/>
                  </a:srgbClr>
                </a:gs>
                <a:gs pos="66667">
                  <a:srgbClr val="00E5ED">
                    <a:alpha val="0"/>
                  </a:srgbClr>
                </a:gs>
                <a:gs pos="100000">
                  <a:srgbClr val="00E5E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4224177" y="67804"/>
            <a:ext cx="2740314" cy="10226990"/>
          </a:xfrm>
          <a:prstGeom prst="line">
            <a:avLst/>
          </a:prstGeom>
          <a:ln cap="flat" w="9525">
            <a:gradFill>
              <a:gsLst>
                <a:gs pos="0">
                  <a:srgbClr val="00E5ED">
                    <a:alpha val="100000"/>
                  </a:srgbClr>
                </a:gs>
                <a:gs pos="33333">
                  <a:srgbClr val="00E5ED">
                    <a:alpha val="0"/>
                  </a:srgbClr>
                </a:gs>
                <a:gs pos="66667">
                  <a:srgbClr val="00E5ED">
                    <a:alpha val="0"/>
                  </a:srgbClr>
                </a:gs>
                <a:gs pos="100000">
                  <a:srgbClr val="00E5E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6414512" y="2289371"/>
            <a:ext cx="11583046" cy="7625550"/>
          </a:xfrm>
          <a:custGeom>
            <a:avLst/>
            <a:gdLst/>
            <a:ahLst/>
            <a:cxnLst/>
            <a:rect r="r" b="b" t="t" l="l"/>
            <a:pathLst>
              <a:path h="7625550" w="11583046">
                <a:moveTo>
                  <a:pt x="0" y="0"/>
                </a:moveTo>
                <a:lnTo>
                  <a:pt x="11583046" y="0"/>
                </a:lnTo>
                <a:lnTo>
                  <a:pt x="11583046" y="7625550"/>
                </a:lnTo>
                <a:lnTo>
                  <a:pt x="0" y="76255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68" r="-270" b="-1171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3304" y="4757803"/>
            <a:ext cx="6361208" cy="1877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20"/>
              </a:lnSpc>
            </a:pPr>
            <a:r>
              <a:rPr lang="en-US" b="true" sz="8000" spc="-44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TIMELINE &amp;</a:t>
            </a:r>
            <a:r>
              <a:rPr lang="en-US" b="true" sz="8000" spc="-44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ROLES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1037924"/>
            <a:ext cx="5385812" cy="363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spc="-165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Vương Quốc Khánh - SE196464 (RW)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17794" y="-3123899"/>
            <a:ext cx="8140412" cy="8229600"/>
          </a:xfrm>
          <a:custGeom>
            <a:avLst/>
            <a:gdLst/>
            <a:ahLst/>
            <a:cxnLst/>
            <a:rect r="r" b="b" t="t" l="l"/>
            <a:pathLst>
              <a:path h="8229600" w="8140412">
                <a:moveTo>
                  <a:pt x="0" y="0"/>
                </a:moveTo>
                <a:lnTo>
                  <a:pt x="8140412" y="0"/>
                </a:lnTo>
                <a:lnTo>
                  <a:pt x="81404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102904" y="3607626"/>
            <a:ext cx="8140412" cy="8229600"/>
          </a:xfrm>
          <a:custGeom>
            <a:avLst/>
            <a:gdLst/>
            <a:ahLst/>
            <a:cxnLst/>
            <a:rect r="r" b="b" t="t" l="l"/>
            <a:pathLst>
              <a:path h="8229600" w="8140412">
                <a:moveTo>
                  <a:pt x="0" y="0"/>
                </a:moveTo>
                <a:lnTo>
                  <a:pt x="8140412" y="0"/>
                </a:lnTo>
                <a:lnTo>
                  <a:pt x="81404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056785" y="-52151"/>
            <a:ext cx="8140412" cy="8229600"/>
          </a:xfrm>
          <a:custGeom>
            <a:avLst/>
            <a:gdLst/>
            <a:ahLst/>
            <a:cxnLst/>
            <a:rect r="r" b="b" t="t" l="l"/>
            <a:pathLst>
              <a:path h="8229600" w="8140412">
                <a:moveTo>
                  <a:pt x="0" y="0"/>
                </a:moveTo>
                <a:lnTo>
                  <a:pt x="8140412" y="0"/>
                </a:lnTo>
                <a:lnTo>
                  <a:pt x="81404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041506" y="7315309"/>
            <a:ext cx="8140412" cy="8229600"/>
          </a:xfrm>
          <a:custGeom>
            <a:avLst/>
            <a:gdLst/>
            <a:ahLst/>
            <a:cxnLst/>
            <a:rect r="r" b="b" t="t" l="l"/>
            <a:pathLst>
              <a:path h="8229600" w="8140412">
                <a:moveTo>
                  <a:pt x="0" y="0"/>
                </a:moveTo>
                <a:lnTo>
                  <a:pt x="8140412" y="0"/>
                </a:lnTo>
                <a:lnTo>
                  <a:pt x="81404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 flipH="true">
            <a:off x="1323510" y="79955"/>
            <a:ext cx="2733802" cy="10202689"/>
          </a:xfrm>
          <a:prstGeom prst="line">
            <a:avLst/>
          </a:prstGeom>
          <a:ln cap="flat" w="9525">
            <a:gradFill>
              <a:gsLst>
                <a:gs pos="0">
                  <a:srgbClr val="00E5ED">
                    <a:alpha val="100000"/>
                  </a:srgbClr>
                </a:gs>
                <a:gs pos="33333">
                  <a:srgbClr val="00E5ED">
                    <a:alpha val="0"/>
                  </a:srgbClr>
                </a:gs>
                <a:gs pos="66667">
                  <a:srgbClr val="00E5ED">
                    <a:alpha val="0"/>
                  </a:srgbClr>
                </a:gs>
                <a:gs pos="100000">
                  <a:srgbClr val="00E5E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9140744" y="67804"/>
            <a:ext cx="0" cy="10226990"/>
          </a:xfrm>
          <a:prstGeom prst="line">
            <a:avLst/>
          </a:prstGeom>
          <a:ln cap="flat" w="9525">
            <a:gradFill>
              <a:gsLst>
                <a:gs pos="0">
                  <a:srgbClr val="00E5ED">
                    <a:alpha val="100000"/>
                  </a:srgbClr>
                </a:gs>
                <a:gs pos="33333">
                  <a:srgbClr val="00E5ED">
                    <a:alpha val="0"/>
                  </a:srgbClr>
                </a:gs>
                <a:gs pos="66667">
                  <a:srgbClr val="00E5ED">
                    <a:alpha val="0"/>
                  </a:srgbClr>
                </a:gs>
                <a:gs pos="100000">
                  <a:srgbClr val="00E5E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4224177" y="67804"/>
            <a:ext cx="2740314" cy="10226990"/>
          </a:xfrm>
          <a:prstGeom prst="line">
            <a:avLst/>
          </a:prstGeom>
          <a:ln cap="flat" w="9525">
            <a:gradFill>
              <a:gsLst>
                <a:gs pos="0">
                  <a:srgbClr val="00E5ED">
                    <a:alpha val="100000"/>
                  </a:srgbClr>
                </a:gs>
                <a:gs pos="33333">
                  <a:srgbClr val="00E5ED">
                    <a:alpha val="0"/>
                  </a:srgbClr>
                </a:gs>
                <a:gs pos="66667">
                  <a:srgbClr val="00E5ED">
                    <a:alpha val="0"/>
                  </a:srgbClr>
                </a:gs>
                <a:gs pos="100000">
                  <a:srgbClr val="00E5E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8819239" y="4065702"/>
            <a:ext cx="7490734" cy="5195651"/>
            <a:chOff x="0" y="0"/>
            <a:chExt cx="1972868" cy="136840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72868" cy="1368402"/>
            </a:xfrm>
            <a:custGeom>
              <a:avLst/>
              <a:gdLst/>
              <a:ahLst/>
              <a:cxnLst/>
              <a:rect r="r" b="b" t="t" l="l"/>
              <a:pathLst>
                <a:path h="1368402" w="1972868">
                  <a:moveTo>
                    <a:pt x="29972" y="0"/>
                  </a:moveTo>
                  <a:lnTo>
                    <a:pt x="1942896" y="0"/>
                  </a:lnTo>
                  <a:cubicBezTo>
                    <a:pt x="1959449" y="0"/>
                    <a:pt x="1972868" y="13419"/>
                    <a:pt x="1972868" y="29972"/>
                  </a:cubicBezTo>
                  <a:lnTo>
                    <a:pt x="1972868" y="1338429"/>
                  </a:lnTo>
                  <a:cubicBezTo>
                    <a:pt x="1972868" y="1354983"/>
                    <a:pt x="1959449" y="1368402"/>
                    <a:pt x="1942896" y="1368402"/>
                  </a:cubicBezTo>
                  <a:lnTo>
                    <a:pt x="29972" y="1368402"/>
                  </a:lnTo>
                  <a:cubicBezTo>
                    <a:pt x="13419" y="1368402"/>
                    <a:pt x="0" y="1354983"/>
                    <a:pt x="0" y="1338429"/>
                  </a:cubicBezTo>
                  <a:lnTo>
                    <a:pt x="0" y="29972"/>
                  </a:lnTo>
                  <a:cubicBezTo>
                    <a:pt x="0" y="13419"/>
                    <a:pt x="13419" y="0"/>
                    <a:pt x="2997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1111">
                    <a:alpha val="100000"/>
                  </a:srgbClr>
                </a:gs>
                <a:gs pos="100000">
                  <a:srgbClr val="111111">
                    <a:alpha val="30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972868" cy="13969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2106320"/>
            <a:ext cx="7002382" cy="7155033"/>
            <a:chOff x="0" y="0"/>
            <a:chExt cx="1972868" cy="201587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72868" cy="2015877"/>
            </a:xfrm>
            <a:custGeom>
              <a:avLst/>
              <a:gdLst/>
              <a:ahLst/>
              <a:cxnLst/>
              <a:rect r="r" b="b" t="t" l="l"/>
              <a:pathLst>
                <a:path h="2015877" w="1972868">
                  <a:moveTo>
                    <a:pt x="32063" y="0"/>
                  </a:moveTo>
                  <a:lnTo>
                    <a:pt x="1940806" y="0"/>
                  </a:lnTo>
                  <a:cubicBezTo>
                    <a:pt x="1958513" y="0"/>
                    <a:pt x="1972868" y="14355"/>
                    <a:pt x="1972868" y="32063"/>
                  </a:cubicBezTo>
                  <a:lnTo>
                    <a:pt x="1972868" y="1983814"/>
                  </a:lnTo>
                  <a:cubicBezTo>
                    <a:pt x="1972868" y="1992318"/>
                    <a:pt x="1969490" y="2000473"/>
                    <a:pt x="1963477" y="2006486"/>
                  </a:cubicBezTo>
                  <a:cubicBezTo>
                    <a:pt x="1957464" y="2012499"/>
                    <a:pt x="1949309" y="2015877"/>
                    <a:pt x="1940806" y="2015877"/>
                  </a:cubicBezTo>
                  <a:lnTo>
                    <a:pt x="32063" y="2015877"/>
                  </a:lnTo>
                  <a:cubicBezTo>
                    <a:pt x="23559" y="2015877"/>
                    <a:pt x="15404" y="2012499"/>
                    <a:pt x="9391" y="2006486"/>
                  </a:cubicBezTo>
                  <a:cubicBezTo>
                    <a:pt x="3378" y="2000473"/>
                    <a:pt x="0" y="1992318"/>
                    <a:pt x="0" y="1983814"/>
                  </a:cubicBezTo>
                  <a:lnTo>
                    <a:pt x="0" y="32063"/>
                  </a:lnTo>
                  <a:cubicBezTo>
                    <a:pt x="0" y="23559"/>
                    <a:pt x="3378" y="15404"/>
                    <a:pt x="9391" y="9391"/>
                  </a:cubicBezTo>
                  <a:cubicBezTo>
                    <a:pt x="15404" y="3378"/>
                    <a:pt x="23559" y="0"/>
                    <a:pt x="3206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1111">
                    <a:alpha val="100000"/>
                  </a:srgbClr>
                </a:gs>
                <a:gs pos="100000">
                  <a:srgbClr val="111111">
                    <a:alpha val="30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972868" cy="2044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8819239" y="1864791"/>
            <a:ext cx="7642809" cy="1877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20"/>
              </a:lnSpc>
            </a:pPr>
            <a:r>
              <a:rPr lang="en-US" b="true" sz="8000" spc="-44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EXPECTED CO</a:t>
            </a:r>
            <a:r>
              <a:rPr lang="en-US" b="true" sz="8000" spc="-44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NTRIBUTION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228179" y="4441392"/>
            <a:ext cx="6554834" cy="172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  <a:spcBef>
                <a:spcPct val="0"/>
              </a:spcBef>
            </a:pPr>
            <a:r>
              <a:rPr lang="en-US" sz="2455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Stan</a:t>
            </a:r>
            <a:r>
              <a:rPr lang="en-US" sz="2455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dardized Benchmark (Thước đo chuẩn hóa), First Comparison (So sánh đầu tiên), Value of Negative Result (Giá trị của kết quả âm).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558125" y="6371239"/>
            <a:ext cx="7900700" cy="1676607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570954" y="7058595"/>
            <a:ext cx="7886705" cy="1674275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572696" y="7746527"/>
            <a:ext cx="7865801" cy="1670791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97215" y="1951160"/>
            <a:ext cx="7465351" cy="7465351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1028700" y="1037924"/>
            <a:ext cx="5385812" cy="363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spc="-165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Vương Quốc Khánh - SE196464 (RW)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17794" y="-3123899"/>
            <a:ext cx="8140412" cy="8229600"/>
          </a:xfrm>
          <a:custGeom>
            <a:avLst/>
            <a:gdLst/>
            <a:ahLst/>
            <a:cxnLst/>
            <a:rect r="r" b="b" t="t" l="l"/>
            <a:pathLst>
              <a:path h="8229600" w="8140412">
                <a:moveTo>
                  <a:pt x="0" y="0"/>
                </a:moveTo>
                <a:lnTo>
                  <a:pt x="8140412" y="0"/>
                </a:lnTo>
                <a:lnTo>
                  <a:pt x="81404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102904" y="3607626"/>
            <a:ext cx="8140412" cy="8229600"/>
          </a:xfrm>
          <a:custGeom>
            <a:avLst/>
            <a:gdLst/>
            <a:ahLst/>
            <a:cxnLst/>
            <a:rect r="r" b="b" t="t" l="l"/>
            <a:pathLst>
              <a:path h="8229600" w="8140412">
                <a:moveTo>
                  <a:pt x="0" y="0"/>
                </a:moveTo>
                <a:lnTo>
                  <a:pt x="8140412" y="0"/>
                </a:lnTo>
                <a:lnTo>
                  <a:pt x="81404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056785" y="-52151"/>
            <a:ext cx="8140412" cy="8229600"/>
          </a:xfrm>
          <a:custGeom>
            <a:avLst/>
            <a:gdLst/>
            <a:ahLst/>
            <a:cxnLst/>
            <a:rect r="r" b="b" t="t" l="l"/>
            <a:pathLst>
              <a:path h="8229600" w="8140412">
                <a:moveTo>
                  <a:pt x="0" y="0"/>
                </a:moveTo>
                <a:lnTo>
                  <a:pt x="8140412" y="0"/>
                </a:lnTo>
                <a:lnTo>
                  <a:pt x="81404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041506" y="7315309"/>
            <a:ext cx="8140412" cy="8229600"/>
          </a:xfrm>
          <a:custGeom>
            <a:avLst/>
            <a:gdLst/>
            <a:ahLst/>
            <a:cxnLst/>
            <a:rect r="r" b="b" t="t" l="l"/>
            <a:pathLst>
              <a:path h="8229600" w="8140412">
                <a:moveTo>
                  <a:pt x="0" y="0"/>
                </a:moveTo>
                <a:lnTo>
                  <a:pt x="8140412" y="0"/>
                </a:lnTo>
                <a:lnTo>
                  <a:pt x="81404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991694"/>
            <a:ext cx="14227985" cy="2481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77"/>
              </a:lnSpc>
            </a:pPr>
            <a:r>
              <a:rPr lang="en-US" sz="20199" spc="-111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</a:t>
            </a:r>
            <a:r>
              <a:rPr lang="en-US" sz="20199" spc="-111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HANK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42692" y="6775212"/>
            <a:ext cx="9116608" cy="2483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961"/>
              </a:lnSpc>
            </a:pPr>
            <a:r>
              <a:rPr lang="en-US" sz="20181" spc="-111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YOU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8065881"/>
            <a:ext cx="3914850" cy="636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800" spc="-285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Present</a:t>
            </a:r>
            <a:r>
              <a:rPr lang="en-US" sz="3800" spc="-285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262132" y="8379570"/>
            <a:ext cx="6442216" cy="115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GPT-4o-mini versus EvoSuite: A Mutation Sc</a:t>
            </a:r>
            <a:r>
              <a:rPr lang="en-US" sz="21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ore-Based Evaluation of Zero-Shot Unit Test Generation on CLASSES2TEST</a:t>
            </a:r>
          </a:p>
        </p:txBody>
      </p:sp>
      <p:sp>
        <p:nvSpPr>
          <p:cNvPr name="AutoShape 10" id="10"/>
          <p:cNvSpPr/>
          <p:nvPr/>
        </p:nvSpPr>
        <p:spPr>
          <a:xfrm flipH="true">
            <a:off x="1323510" y="79955"/>
            <a:ext cx="2733802" cy="10202689"/>
          </a:xfrm>
          <a:prstGeom prst="line">
            <a:avLst/>
          </a:prstGeom>
          <a:ln cap="flat" w="9525">
            <a:gradFill>
              <a:gsLst>
                <a:gs pos="0">
                  <a:srgbClr val="00E5ED">
                    <a:alpha val="100000"/>
                  </a:srgbClr>
                </a:gs>
                <a:gs pos="33333">
                  <a:srgbClr val="00E5ED">
                    <a:alpha val="0"/>
                  </a:srgbClr>
                </a:gs>
                <a:gs pos="66667">
                  <a:srgbClr val="00E5ED">
                    <a:alpha val="0"/>
                  </a:srgbClr>
                </a:gs>
                <a:gs pos="100000">
                  <a:srgbClr val="00E5E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14224177" y="67804"/>
            <a:ext cx="2740314" cy="10226990"/>
          </a:xfrm>
          <a:prstGeom prst="line">
            <a:avLst/>
          </a:prstGeom>
          <a:ln cap="flat" w="9525">
            <a:gradFill>
              <a:gsLst>
                <a:gs pos="0">
                  <a:srgbClr val="00E5ED">
                    <a:alpha val="100000"/>
                  </a:srgbClr>
                </a:gs>
                <a:gs pos="33333">
                  <a:srgbClr val="00E5ED">
                    <a:alpha val="0"/>
                  </a:srgbClr>
                </a:gs>
                <a:gs pos="66667">
                  <a:srgbClr val="00E5ED">
                    <a:alpha val="0"/>
                  </a:srgbClr>
                </a:gs>
                <a:gs pos="100000">
                  <a:srgbClr val="00E5E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3353246" y="6769109"/>
            <a:ext cx="455866" cy="455866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E5ED">
                    <a:alpha val="100000"/>
                  </a:srgbClr>
                </a:gs>
                <a:gs pos="100000">
                  <a:srgbClr val="00E5ED">
                    <a:alpha val="0"/>
                  </a:srgbClr>
                </a:gs>
              </a:gsLst>
              <a:lin ang="270000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934501" y="1943814"/>
            <a:ext cx="326556" cy="326556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E5ED">
                    <a:alpha val="100000"/>
                  </a:srgbClr>
                </a:gs>
                <a:gs pos="100000">
                  <a:srgbClr val="00E5ED">
                    <a:alpha val="0"/>
                  </a:srgbClr>
                </a:gs>
              </a:gsLst>
              <a:lin ang="270000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8451149">
            <a:off x="17583150" y="9023573"/>
            <a:ext cx="1729903" cy="1729903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E5ED">
                    <a:alpha val="100000"/>
                  </a:srgbClr>
                </a:gs>
                <a:gs pos="100000">
                  <a:srgbClr val="00E5ED">
                    <a:alpha val="0"/>
                  </a:srgbClr>
                </a:gs>
              </a:gsLst>
              <a:lin ang="270000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28700" y="1037924"/>
            <a:ext cx="2234029" cy="363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spc="-165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FPT</a:t>
            </a:r>
            <a:r>
              <a:rPr lang="en-US" sz="2200" spc="-165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UNIVERSITY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938874" y="4892532"/>
            <a:ext cx="2317811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399" spc="-203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Presented by :  </a:t>
            </a: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399" spc="-203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Team 4 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5262132" y="1066499"/>
            <a:ext cx="8140412" cy="8229600"/>
          </a:xfrm>
          <a:custGeom>
            <a:avLst/>
            <a:gdLst/>
            <a:ahLst/>
            <a:cxnLst/>
            <a:rect r="r" b="b" t="t" l="l"/>
            <a:pathLst>
              <a:path h="8229600" w="8140412">
                <a:moveTo>
                  <a:pt x="0" y="0"/>
                </a:moveTo>
                <a:lnTo>
                  <a:pt x="8140412" y="0"/>
                </a:lnTo>
                <a:lnTo>
                  <a:pt x="81404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787328">
            <a:off x="6830799" y="2479229"/>
            <a:ext cx="5065082" cy="5316403"/>
          </a:xfrm>
          <a:custGeom>
            <a:avLst/>
            <a:gdLst/>
            <a:ahLst/>
            <a:cxnLst/>
            <a:rect r="r" b="b" t="t" l="l"/>
            <a:pathLst>
              <a:path h="5316403" w="5065082">
                <a:moveTo>
                  <a:pt x="0" y="0"/>
                </a:moveTo>
                <a:lnTo>
                  <a:pt x="5065082" y="0"/>
                </a:lnTo>
                <a:lnTo>
                  <a:pt x="5065082" y="5316403"/>
                </a:lnTo>
                <a:lnTo>
                  <a:pt x="0" y="53164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DAHNMabGIm8</dc:identifier>
  <dcterms:modified xsi:type="dcterms:W3CDTF">2011-08-01T06:04:30Z</dcterms:modified>
  <cp:revision>1</cp:revision>
  <dc:title>Dynamic Agency</dc:title>
</cp:coreProperties>
</file>